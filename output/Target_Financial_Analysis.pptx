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market_context.html" TargetMode="Externa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revenue_netincome_annual.html" TargetMode="Externa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revenue_growth_yoy.html" TargetMode="Externa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revenue_vs_inventory.html" TargetMode="Externa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revenue_netincome_longterm.html" TargetMode="Externa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margin_analysis.html" TargetMode="External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margin_bridge.html" TargetMode="External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expense_breakdown.html" TargetMode="External"/><Relationship Id="rId3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ebitda_bridge.html" TargetMode="External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operating_margin_waterfall.html" TargetMode="External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earnings_quality.html" TargetMode="External"/><Relationship Id="rId3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current_ratio_gauge.html" TargetMode="External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capital_structure_donut.html" TargetMode="External"/><Relationship Id="rId3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debt_to_ebitda_trend.html" TargetMode="External"/><Relationship Id="rId3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debt_health.html" TargetMode="External"/><Relationship Id="rId3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cash_flows.html" TargetMode="External"/><Relationship Id="rId3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dupont_analysis.html" TargetMode="External"/><Relationship Id="rId3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inventory_efficiency.html" TargetMode="External"/><Relationship Id="rId3" Type="http://schemas.openxmlformats.org/officeDocument/2006/relationships/image" Target="../media/image1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cash_conversion_cycle.html" TargetMode="External"/><Relationship Id="rId3" Type="http://schemas.openxmlformats.org/officeDocument/2006/relationships/image" Target="../media/image1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ocf_vs_capex.html" TargetMode="External"/><Relationship Id="rId3" Type="http://schemas.openxmlformats.org/officeDocument/2006/relationships/image" Target="../media/image2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valuation_scatter.html" TargetMode="External"/><Relationship Id="rId3" Type="http://schemas.openxmlformats.org/officeDocument/2006/relationships/image" Target="../media/image2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pe_band.html" TargetMode="External"/><Relationship Id="rId3" Type="http://schemas.openxmlformats.org/officeDocument/2006/relationships/image" Target="../media/image2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cash_flow_sankey.html" TargetMode="External"/><Relationship Id="rId3" Type="http://schemas.openxmlformats.org/officeDocument/2006/relationships/image" Target="../media/image2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risk_trends.html" TargetMode="External"/><Relationship Id="rId3" Type="http://schemas.openxmlformats.org/officeDocument/2006/relationships/image" Target="../media/image2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risk_heatmap_grid.html" TargetMode="External"/><Relationship Id="rId3" Type="http://schemas.openxmlformats.org/officeDocument/2006/relationships/image" Target="../media/image2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CC0000"/>
                </a:solidFill>
              </a:defRPr>
            </a:pPr>
            <a:r>
              <a:t>Target Corporation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Financial Analysis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808080"/>
                </a:solidFill>
              </a:defRPr>
            </a:pPr>
            <a:r>
              <a:t>5 Pillars of Financial Analysis | 24 Interactive Charts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69696"/>
                </a:solidFill>
              </a:defRPr>
            </a:pPr>
            <a:r>
              <a:t>Data: FY2015 - Q3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C0000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800" b="1">
                <a:solidFill>
                  <a:srgbClr val="CC0000"/>
                </a:solidFill>
              </a:defRPr>
            </a:pPr>
            <a:r>
              <a:t>FY2024 Baseline Performance</a:t>
            </a:r>
          </a:p>
          <a:p>
            <a:pPr>
              <a:spcAft>
                <a:spcPts val="300"/>
              </a:spcAft>
              <a:defRPr sz="1400"/>
            </a:pPr>
            <a:r>
              <a:t>   Net Sales: $26.12B</a:t>
            </a:r>
          </a:p>
          <a:p>
            <a:pPr>
              <a:spcAft>
                <a:spcPts val="300"/>
              </a:spcAft>
              <a:defRPr sz="1400"/>
            </a:pPr>
            <a:r>
              <a:t>   Operating Margin: 3.91%</a:t>
            </a:r>
          </a:p>
          <a:p>
            <a:pPr>
              <a:spcAft>
                <a:spcPts val="300"/>
              </a:spcAft>
              <a:defRPr sz="1400"/>
            </a:pPr>
            <a:r>
              <a:t>   Gross Margin: 24.66%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600"/>
              </a:spcAft>
              <a:defRPr sz="1800" b="1">
                <a:solidFill>
                  <a:srgbClr val="CC0000"/>
                </a:solidFill>
              </a:defRPr>
            </a:pPr>
            <a:r>
              <a:t>Latest Quarter Highlights</a:t>
            </a:r>
          </a:p>
          <a:p>
            <a:pPr>
              <a:spcAft>
                <a:spcPts val="300"/>
              </a:spcAft>
              <a:defRPr sz="1400"/>
            </a:pPr>
            <a:r>
              <a:t>   Operating Margin: 3.75%</a:t>
            </a:r>
          </a:p>
          <a:p>
            <a:pPr>
              <a:spcAft>
                <a:spcPts val="300"/>
              </a:spcAft>
              <a:defRPr sz="1400"/>
            </a:pPr>
            <a:r>
              <a:t>   Inventory: $14.90B</a:t>
            </a:r>
          </a:p>
          <a:p>
            <a:pPr>
              <a:spcAft>
                <a:spcPts val="300"/>
              </a:spcAft>
              <a:defRPr sz="1400"/>
            </a:pPr>
            <a:r>
              <a:t>   See pillar charts for detailed trends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600"/>
              </a:spcAft>
              <a:defRPr sz="1800" b="1">
                <a:solidFill>
                  <a:srgbClr val="CC0000"/>
                </a:solidFill>
              </a:defRPr>
            </a:pPr>
            <a:r>
              <a:t>5 Pillars Covered</a:t>
            </a:r>
          </a:p>
          <a:p>
            <a:pPr>
              <a:spcAft>
                <a:spcPts val="300"/>
              </a:spcAft>
              <a:defRPr sz="1400"/>
            </a:pPr>
            <a:r>
              <a:t>   1. Growth &amp; Revenue - 4 charts</a:t>
            </a:r>
          </a:p>
          <a:p>
            <a:pPr>
              <a:spcAft>
                <a:spcPts val="300"/>
              </a:spcAft>
              <a:defRPr sz="1400"/>
            </a:pPr>
            <a:r>
              <a:t>   2. Profitability &amp; Margins - 6 charts</a:t>
            </a:r>
          </a:p>
          <a:p>
            <a:pPr>
              <a:spcAft>
                <a:spcPts val="300"/>
              </a:spcAft>
              <a:defRPr sz="1400"/>
            </a:pPr>
            <a:r>
              <a:t>   3. Liquidity &amp; Solvency - 5 charts</a:t>
            </a:r>
          </a:p>
          <a:p>
            <a:pPr>
              <a:spcAft>
                <a:spcPts val="300"/>
              </a:spcAft>
              <a:defRPr sz="1400"/>
            </a:pPr>
            <a:r>
              <a:t>   4. Operational Efficiency - 4 charts</a:t>
            </a:r>
          </a:p>
          <a:p>
            <a:pPr>
              <a:spcAft>
                <a:spcPts val="300"/>
              </a:spcAft>
              <a:defRPr sz="1400"/>
            </a:pPr>
            <a:r>
              <a:t>   5. Valuation &amp; Risk - 5 charts</a:t>
            </a:r>
          </a:p>
          <a:p>
            <a:pPr>
              <a:spcAft>
                <a:spcPts val="1200"/>
              </a:spcAft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Market Context: TGT vs S&amp;P 500</a:t>
            </a:r>
          </a:p>
        </p:txBody>
      </p:sp>
      <p:sp>
        <p:nvSpPr>
          <p:cNvPr id="3" name="TextBox 2">
            <a:hlinkClick r:id="rId2"/>
          </p:cNvPr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 tooltip="Compares TGT total return vs S&amp;P 500 (SPY) and Retail ETF (XRT). Rolling beta shows stock's sensitivity to market movements."/>
              </a:rPr>
              <a:t>ⓘ</a:t>
            </a:r>
          </a:p>
        </p:txBody>
      </p:sp>
      <p:pic>
        <p:nvPicPr>
          <p:cNvPr id="4" name="Picture 3" descr="chart_market_conte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TGT underperformed S&amp;P 500 by 102pp over 3 years. Beta dropped to 0.28 (less volatile than market)—defensive but lagging in bull markets.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C0000"/>
                </a:solidFill>
              </a:defRPr>
            </a:pPr>
            <a:r>
              <a:t>Investment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8C00"/>
                </a:solidFill>
              </a:defRPr>
            </a:pPr>
            <a:r>
              <a:t>Recommendation: Hold</a:t>
            </a:r>
          </a:p>
          <a:p>
            <a:pPr>
              <a:spcAft>
                <a:spcPts val="600"/>
              </a:spcAft>
              <a:defRPr sz="1600"/>
            </a:pPr>
            <a:r>
              <a:t>Margin pressure and elevated risks warrant caution; watch for stabilization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3886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000" b="1"/>
            </a:pPr>
            <a:r>
              <a:t>Risk Factors</a:t>
            </a:r>
          </a:p>
          <a:p>
            <a:pPr>
              <a:defRPr sz="1400" b="1"/>
            </a:pPr>
            <a:r>
              <a:t>Shrink/Theft (High)</a:t>
            </a:r>
          </a:p>
          <a:p>
            <a:pPr lvl="1">
              <a:spcAft>
                <a:spcPts val="600"/>
              </a:spcAft>
              <a:defRPr sz="1200"/>
            </a:pPr>
            <a:r>
              <a:t>22 mentions across 8 periods, avg 2.8/period</a:t>
            </a:r>
          </a:p>
          <a:p>
            <a:pPr>
              <a:defRPr sz="1400" b="1"/>
            </a:pPr>
            <a:r>
              <a:t>Interest Coverage Decline (Medium)</a:t>
            </a:r>
          </a:p>
          <a:p>
            <a:pPr lvl="1">
              <a:spcAft>
                <a:spcPts val="600"/>
              </a:spcAft>
              <a:defRPr sz="1200"/>
            </a:pPr>
            <a:r>
              <a:t>Coverage dropped 27% QoQ (11.3x → 8.2x)</a:t>
            </a:r>
          </a:p>
          <a:p>
            <a:pPr>
              <a:defRPr sz="1400" b="1"/>
            </a:pPr>
            <a:r>
              <a:t>Margin Compression (High)</a:t>
            </a:r>
          </a:p>
          <a:p>
            <a:pPr lvl="1">
              <a:spcAft>
                <a:spcPts val="600"/>
              </a:spcAft>
              <a:defRPr sz="1200"/>
            </a:pPr>
            <a:r>
              <a:t>Operating margin 3.8% vs 7.1% baseline (-3.3pp)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00600" y="2286000"/>
            <a:ext cx="3886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000" b="1"/>
            </a:pPr>
            <a:r>
              <a:t>Opportunities</a:t>
            </a:r>
          </a:p>
          <a:p>
            <a:pPr>
              <a:defRPr sz="1400" b="1"/>
            </a:pPr>
            <a:r>
              <a:t>Digital Sales Growth (Medium potential)</a:t>
            </a:r>
          </a:p>
          <a:p>
            <a:pPr lvl="1">
              <a:spcAft>
                <a:spcPts val="600"/>
              </a:spcAft>
              <a:defRPr sz="1200"/>
            </a:pPr>
            <a:r>
              <a:t>Digital comp sales 2.4% (slowing from 4.3%)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PILLAR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Growth &amp; Revenue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i="1">
                <a:solidFill>
                  <a:srgbClr val="646464"/>
                </a:solidFill>
              </a:defRPr>
            </a:pPr>
            <a:r>
              <a:t>"How is the business growing?"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Revenue &amp; Net Income (10-Year)</a:t>
            </a:r>
          </a:p>
        </p:txBody>
      </p:sp>
      <p:sp>
        <p:nvSpPr>
          <p:cNvPr id="3" name="TextBox 2">
            <a:hlinkClick r:id="rId2"/>
          </p:cNvPr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 tooltip="Shows Target's 10-year revenue and net income trajectory from annual 10-K filings. Look for consistent growth and whether profits keep pace with revenue."/>
              </a:rPr>
              <a:t>ⓘ</a:t>
            </a:r>
          </a:p>
        </p:txBody>
      </p:sp>
      <p:pic>
        <p:nvPicPr>
          <p:cNvPr id="4" name="Picture 3" descr="chart_revenue_netincome_ann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Revenue grew 50% ($70B→$105B) over 10 years, but net income peaked in FY2021 at $7.1B then dropped 44% to $4.0B—profits not keeping pace with top-line growth.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Revenue Growth YoY</a:t>
            </a:r>
          </a:p>
        </p:txBody>
      </p:sp>
      <p:sp>
        <p:nvSpPr>
          <p:cNvPr id="3" name="TextBox 2">
            <a:hlinkClick r:id="rId2"/>
          </p:cNvPr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 tooltip="Tracks year-over-year revenue growth rates by quarter. Reveals acceleration or deceleration in growth momentum."/>
              </a:rPr>
              <a:t>ⓘ</a:t>
            </a:r>
          </a:p>
        </p:txBody>
      </p:sp>
      <p:pic>
        <p:nvPicPr>
          <p:cNvPr id="4" name="Picture 3" descr="chart_revenue_growth_y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Growth has decelerated sharply: from 20%+ during COVID to just 1.6% in Q3 2025. Target is now a low-single-digit grower.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Revenue vs Inventory Growth</a:t>
            </a:r>
          </a:p>
        </p:txBody>
      </p:sp>
      <p:sp>
        <p:nvSpPr>
          <p:cNvPr id="3" name="TextBox 2">
            <a:hlinkClick r:id="rId2"/>
          </p:cNvPr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 tooltip="Compares revenue growth to inventory buildup. Inventory growing faster than sales signals potential markdown risk."/>
              </a:rPr>
              <a:t>ⓘ</a:t>
            </a:r>
          </a:p>
        </p:txBody>
      </p:sp>
      <p:pic>
        <p:nvPicPr>
          <p:cNvPr id="4" name="Picture 3" descr="chart_revenue_vs_inven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Inventory growth outpaced revenue in FY2022-23, creating markdown risk. Recent quarters show better alignment as inventory normalizes.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Revenue &amp; Net Income (Quarterly)</a:t>
            </a:r>
          </a:p>
        </p:txBody>
      </p:sp>
      <p:sp>
        <p:nvSpPr>
          <p:cNvPr id="3" name="TextBox 2">
            <a:hlinkClick r:id="rId2"/>
          </p:cNvPr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 tooltip="Quarterly view with calculated Q4 data showing seasonal patterns. Q4 (holiday season) typically shows peak revenue."/>
              </a:rPr>
              <a:t>ⓘ</a:t>
            </a:r>
          </a:p>
        </p:txBody>
      </p:sp>
      <p:pic>
        <p:nvPicPr>
          <p:cNvPr id="4" name="Picture 3" descr="chart_revenue_netincome_longte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Q4 holiday peaks are visible, but FY2022-23 saw net income collapse despite stable revenue—margin compression is the story.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3" name="Rectangle 2"/>
          <p:cNvSpPr/>
          <p:nvPr/>
        </p:nvSpPr>
        <p:spPr>
          <a:xfrm>
            <a:off x="365760" y="228600"/>
            <a:ext cx="1371600" cy="41148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SO WHAT?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33333"/>
                </a:solidFill>
              </a:defRPr>
            </a:pPr>
            <a:r>
              <a:t>Growth Summary: The Revenue 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8229600" cy="914400"/>
          </a:xfrm>
          <a:prstGeom prst="rect">
            <a:avLst/>
          </a:prstGeom>
          <a:solidFill>
            <a:srgbClr val="FFF0F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C0000"/>
                </a:solidFill>
              </a:defRPr>
            </a:pPr>
            <a:r>
              <a:t>KEY INSIGHT</a:t>
            </a:r>
          </a:p>
          <a:p>
            <a:pPr>
              <a:defRPr sz="1800" b="1">
                <a:solidFill>
                  <a:srgbClr val="333333"/>
                </a:solidFill>
              </a:defRPr>
            </a:pPr>
            <a:r>
              <a:t>Revenue growth has stalled at ~2% YoY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33333"/>
                </a:solidFill>
              </a:defRPr>
            </a:pPr>
            <a:r>
              <a:t>Evidence: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Revenue grew only 1.6% in Q3 2025 vs prior year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Inventory up 17% while sales growth slowed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Clearance risk from excess inventory buildup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029200"/>
            <a:ext cx="8229600" cy="1097280"/>
          </a:xfrm>
          <a:prstGeom prst="rect">
            <a:avLst/>
          </a:prstGeom>
          <a:solidFill>
            <a:srgbClr val="F0F8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6636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66CC"/>
                </a:solidFill>
              </a:defRPr>
            </a:pPr>
            <a:r>
              <a:t>IMPLICATION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Slowing growth limits pricing power; watch for markdown pressure in Q4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PILLAR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Profitability &amp; Margins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i="1">
                <a:solidFill>
                  <a:srgbClr val="646464"/>
                </a:solidFill>
              </a:defRPr>
            </a:pPr>
            <a:r>
              <a:t>"How efficiently is the company generating profits?"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Margin Analysis (Gross/Operating/Net)</a:t>
            </a:r>
          </a:p>
        </p:txBody>
      </p:sp>
      <p:sp>
        <p:nvSpPr>
          <p:cNvPr id="3" name="TextBox 2">
            <a:hlinkClick r:id="rId2"/>
          </p:cNvPr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 tooltip="Three margin lines tracking profitability over time. Compression between lines reveals where profits leak."/>
              </a:rPr>
              <a:t>ⓘ</a:t>
            </a:r>
          </a:p>
        </p:txBody>
      </p:sp>
      <p:pic>
        <p:nvPicPr>
          <p:cNvPr id="4" name="Picture 3" descr="chart_margin_analy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Operating margin compressed from 7.1% (FY2020) to 3.75% (Q3 2025)—a 3.3pp drop. Gross margin held steady, so the leak is in SG&amp;A and shrink.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Margin Bridge Waterfall</a:t>
            </a:r>
          </a:p>
        </p:txBody>
      </p:sp>
      <p:sp>
        <p:nvSpPr>
          <p:cNvPr id="3" name="TextBox 2">
            <a:hlinkClick r:id="rId2"/>
          </p:cNvPr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 tooltip="Waterfall showing margin evolution from FY2022 baseline. Green bars = improvement, red bars = deterioration."/>
              </a:rPr>
              <a:t>ⓘ</a:t>
            </a:r>
          </a:p>
        </p:txBody>
      </p:sp>
      <p:pic>
        <p:nvPicPr>
          <p:cNvPr id="4" name="Picture 3" descr="chart_margin_bri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From FY2022 baseline, margins deteriorated in 5 of 8 periods. The FY2023 trough (-2.4pp) shows the inventory markdown pain.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Operating Expense Breakdown</a:t>
            </a:r>
          </a:p>
        </p:txBody>
      </p:sp>
      <p:sp>
        <p:nvSpPr>
          <p:cNvPr id="3" name="TextBox 2">
            <a:hlinkClick r:id="rId2"/>
          </p:cNvPr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 tooltip="100% stacked bars showing cost structure. Watch for SG&amp;A creep eating into margins."/>
              </a:rPr>
              <a:t>ⓘ</a:t>
            </a:r>
          </a:p>
        </p:txBody>
      </p:sp>
      <p:pic>
        <p:nvPicPr>
          <p:cNvPr id="4" name="Picture 3" descr="chart_expense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SG&amp;A as % of revenue crept up from 19% to 21% since FY2020. This 2pp increase directly explains half the margin compression.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EBITDA Bridge</a:t>
            </a:r>
          </a:p>
        </p:txBody>
      </p:sp>
      <p:sp>
        <p:nvSpPr>
          <p:cNvPr id="3" name="TextBox 2">
            <a:hlinkClick r:id="rId2"/>
          </p:cNvPr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 tooltip="Shows how revenue flows to EBITDA through operating expenses. The D&amp;A add-back reveals capital intensity."/>
              </a:rPr>
              <a:t>ⓘ</a:t>
            </a:r>
          </a:p>
        </p:txBody>
      </p:sp>
      <p:pic>
        <p:nvPicPr>
          <p:cNvPr id="4" name="Picture 3" descr="chart_ebitda_bri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D&amp;A adds ~$2.8B to operating income, but EBITDA margin still declined from 9.5% to 6.5% over three years.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Operating Margin Waterfall</a:t>
            </a:r>
          </a:p>
        </p:txBody>
      </p:sp>
      <p:sp>
        <p:nvSpPr>
          <p:cNvPr id="3" name="TextBox 2">
            <a:hlinkClick r:id="rId2"/>
          </p:cNvPr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 tooltip="Quarterly margin changes as waterfall. Identifies seasonal patterns and pressure points."/>
              </a:rPr>
              <a:t>ⓘ</a:t>
            </a:r>
          </a:p>
        </p:txBody>
      </p:sp>
      <p:pic>
        <p:nvPicPr>
          <p:cNvPr id="4" name="Picture 3" descr="chart_operating_margin_waterf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Q3 margins consistently underperform Q4 due to holiday leverage. FY2023 Q2-Q3 saw the steepest drops (-1.5pp each).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Earnings Quality</a:t>
            </a:r>
          </a:p>
        </p:txBody>
      </p:sp>
      <p:sp>
        <p:nvSpPr>
          <p:cNvPr id="3" name="TextBox 2">
            <a:hlinkClick r:id="rId2"/>
          </p:cNvPr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 tooltip="Compares Net Income to Operating Cash Flow. High-quality earnings convert to cash consistently."/>
              </a:rPr>
              <a:t>ⓘ</a:t>
            </a:r>
          </a:p>
        </p:txBody>
      </p:sp>
      <p:pic>
        <p:nvPicPr>
          <p:cNvPr id="4" name="Picture 3" descr="chart_earnings_qua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Operating cash flow exceeds net income in most periods—earnings quality is solid. Working capital swings cause quarterly noise.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3" name="Rectangle 2"/>
          <p:cNvSpPr/>
          <p:nvPr/>
        </p:nvSpPr>
        <p:spPr>
          <a:xfrm>
            <a:off x="365760" y="228600"/>
            <a:ext cx="1371600" cy="41148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SO WHAT?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33333"/>
                </a:solidFill>
              </a:defRPr>
            </a:pPr>
            <a:r>
              <a:t>Margin Compression Alert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8229600" cy="914400"/>
          </a:xfrm>
          <a:prstGeom prst="rect">
            <a:avLst/>
          </a:prstGeom>
          <a:solidFill>
            <a:srgbClr val="FFF0F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C0000"/>
                </a:solidFill>
              </a:defRPr>
            </a:pPr>
            <a:r>
              <a:t>KEY INSIGHT</a:t>
            </a:r>
          </a:p>
          <a:p>
            <a:pPr>
              <a:defRPr sz="1800" b="1">
                <a:solidFill>
                  <a:srgbClr val="333333"/>
                </a:solidFill>
              </a:defRPr>
            </a:pPr>
            <a:r>
              <a:t>Operating margin dropped 1.47% (5.22% → 3.75%)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33333"/>
                </a:solidFill>
              </a:defRPr>
            </a:pPr>
            <a:r>
              <a:t>Evidence: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Inventory up 17% while margins declined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Clearance risk from excess inventory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Shrink/theft mentioned in all quarterly filings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029200"/>
            <a:ext cx="8229600" cy="1097280"/>
          </a:xfrm>
          <a:prstGeom prst="rect">
            <a:avLst/>
          </a:prstGeom>
          <a:solidFill>
            <a:srgbClr val="F0F8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6636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66CC"/>
                </a:solidFill>
              </a:defRPr>
            </a:pPr>
            <a:r>
              <a:t>IMPLICATION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Q4 margin recovery is critical; watch for promotional activity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PILLAR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Liquidity &amp; Solvency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i="1">
                <a:solidFill>
                  <a:srgbClr val="646464"/>
                </a:solidFill>
              </a:defRPr>
            </a:pPr>
            <a:r>
              <a:t>"Can the company pay its bills today and debts in the future?"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Current Ratio Gauge</a:t>
            </a:r>
          </a:p>
        </p:txBody>
      </p:sp>
      <p:sp>
        <p:nvSpPr>
          <p:cNvPr id="3" name="TextBox 2">
            <a:hlinkClick r:id="rId2"/>
          </p:cNvPr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 tooltip="Measures short-term liquidity. Below 1.0 is warning (liabilities exceed assets); above 1.5 is healthy for retail."/>
              </a:rPr>
              <a:t>ⓘ</a:t>
            </a:r>
          </a:p>
        </p:txBody>
      </p:sp>
      <p:pic>
        <p:nvPicPr>
          <p:cNvPr id="4" name="Picture 3" descr="chart_current_ratio_gau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Current ratio at 0.92x is below 1.0—current liabilities exceed current assets. Typical for retail but warrants monitoring.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Capital Structure</a:t>
            </a:r>
          </a:p>
        </p:txBody>
      </p:sp>
      <p:sp>
        <p:nvSpPr>
          <p:cNvPr id="3" name="TextBox 2">
            <a:hlinkClick r:id="rId2"/>
          </p:cNvPr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 tooltip="Shows debt vs equity mix. Higher debt = higher risk but potentially higher returns on equity."/>
              </a:rPr>
              <a:t>ⓘ</a:t>
            </a:r>
          </a:p>
        </p:txBody>
      </p:sp>
      <p:pic>
        <p:nvPicPr>
          <p:cNvPr id="4" name="Picture 3" descr="chart_capital_structure_don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Debt represents ~65% of capital structure. Leverage increased as buybacks reduced equity base.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Debt-to-EBITDA Trend</a:t>
            </a:r>
          </a:p>
        </p:txBody>
      </p:sp>
      <p:sp>
        <p:nvSpPr>
          <p:cNvPr id="3" name="TextBox 2">
            <a:hlinkClick r:id="rId2"/>
          </p:cNvPr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 tooltip="Key leverage metric showing how many years of earnings to repay debt. Below 3x is healthy; above 5x is risky."/>
              </a:rPr>
              <a:t>ⓘ</a:t>
            </a:r>
          </a:p>
        </p:txBody>
      </p:sp>
      <p:pic>
        <p:nvPicPr>
          <p:cNvPr id="4" name="Picture 3" descr="chart_debt_to_ebitda_tr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Debt/EBITDA rose from 1.5x (FY2020) to 3.8x (FY2024) as EBITDA declined while debt stayed flat. Approaching the 4x caution zone.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Debt Health (Interest Coverage)</a:t>
            </a:r>
          </a:p>
        </p:txBody>
      </p:sp>
      <p:sp>
        <p:nvSpPr>
          <p:cNvPr id="3" name="TextBox 2">
            <a:hlinkClick r:id="rId2"/>
          </p:cNvPr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 tooltip="Interest coverage ratio tracking. Above 3x is comfortable; below 2x requires monitoring."/>
              </a:rPr>
              <a:t>ⓘ</a:t>
            </a:r>
          </a:p>
        </p:txBody>
      </p:sp>
      <p:pic>
        <p:nvPicPr>
          <p:cNvPr id="4" name="Picture 3" descr="chart_debt_heal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Interest coverage dropped from 11.3x to 8.2x QoQ—a 27% decline. Still comfortable above 3x but trending wrong direction.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Statement of Cash Flows</a:t>
            </a:r>
          </a:p>
        </p:txBody>
      </p:sp>
      <p:sp>
        <p:nvSpPr>
          <p:cNvPr id="3" name="TextBox 2">
            <a:hlinkClick r:id="rId2"/>
          </p:cNvPr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 tooltip="Three cash flow lines: Operating, Investing, Financing. Operating should be consistently positive."/>
              </a:rPr>
              <a:t>ⓘ</a:t>
            </a:r>
          </a:p>
        </p:txBody>
      </p:sp>
      <p:pic>
        <p:nvPicPr>
          <p:cNvPr id="4" name="Picture 3" descr="chart_cash_fl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Operating CF remains positive ($1-2B/quarter) but investing CF shows steady CapEx spend. Financing CF negative due to dividends.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3" name="Rectangle 2"/>
          <p:cNvSpPr/>
          <p:nvPr/>
        </p:nvSpPr>
        <p:spPr>
          <a:xfrm>
            <a:off x="365760" y="228600"/>
            <a:ext cx="1371600" cy="41148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SO WHAT?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33333"/>
                </a:solidFill>
              </a:defRPr>
            </a:pPr>
            <a:r>
              <a:t>Interest Coverage Crisis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8229600" cy="914400"/>
          </a:xfrm>
          <a:prstGeom prst="rect">
            <a:avLst/>
          </a:prstGeom>
          <a:solidFill>
            <a:srgbClr val="FFF0F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C0000"/>
                </a:solidFill>
              </a:defRPr>
            </a:pPr>
            <a:r>
              <a:t>KEY INSIGHT</a:t>
            </a:r>
          </a:p>
          <a:p>
            <a:pPr>
              <a:defRPr sz="1800" b="1">
                <a:solidFill>
                  <a:srgbClr val="333333"/>
                </a:solidFill>
              </a:defRPr>
            </a:pPr>
            <a:r>
              <a:t>Coverage collapsed from 9.7x to 1.5x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33333"/>
                </a:solidFill>
              </a:defRPr>
            </a:pPr>
            <a:r>
              <a:t>Evidence: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Debt increased 7.5% to $15.37B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Below 1.5x triggers covenant concerns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$2B debt matures FY2026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029200"/>
            <a:ext cx="8229600" cy="1097280"/>
          </a:xfrm>
          <a:prstGeom prst="rect">
            <a:avLst/>
          </a:prstGeom>
          <a:solidFill>
            <a:srgbClr val="F0F8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6636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66CC"/>
                </a:solidFill>
              </a:defRPr>
            </a:pPr>
            <a:r>
              <a:t>IMPLICATION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Refinancing risk; watch debt maturities and interest rates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PILLAR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Operational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i="1">
                <a:solidFill>
                  <a:srgbClr val="646464"/>
                </a:solidFill>
              </a:defRPr>
            </a:pPr>
            <a:r>
              <a:t>"How well is the company using its assets?"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DuPont Analysis</a:t>
            </a:r>
          </a:p>
        </p:txBody>
      </p:sp>
      <p:sp>
        <p:nvSpPr>
          <p:cNvPr id="3" name="TextBox 2">
            <a:hlinkClick r:id="rId2"/>
          </p:cNvPr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 tooltip="Decomposes ROE into Profit Margin x Asset Turnover x Financial Leverage. Shows what drives returns."/>
              </a:rPr>
              <a:t>ⓘ</a:t>
            </a:r>
          </a:p>
        </p:txBody>
      </p:sp>
      <p:pic>
        <p:nvPicPr>
          <p:cNvPr id="4" name="Picture 3" descr="chart_dupont_analy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ROE driven primarily by leverage (3.2x), not margins (3.8%) or turnover (1.8x). Declining margins are dragging returns down.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Inventory Efficiency</a:t>
            </a:r>
          </a:p>
        </p:txBody>
      </p:sp>
      <p:sp>
        <p:nvSpPr>
          <p:cNvPr id="3" name="TextBox 2">
            <a:hlinkClick r:id="rId2"/>
          </p:cNvPr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 tooltip="Tracks turnover ratio and days on hand. Faster turns = less capital tied up in inventory."/>
              </a:rPr>
              <a:t>ⓘ</a:t>
            </a:r>
          </a:p>
        </p:txBody>
      </p:sp>
      <p:pic>
        <p:nvPicPr>
          <p:cNvPr id="4" name="Picture 3" descr="chart_inventory_effici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Inventory turns improved from 5.8x to 6.2x as Target worked through excess stock. Days on hand dropped from 63 to 59 days.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Cash Conversion Cycle</a:t>
            </a:r>
          </a:p>
        </p:txBody>
      </p:sp>
      <p:sp>
        <p:nvSpPr>
          <p:cNvPr id="3" name="TextBox 2">
            <a:hlinkClick r:id="rId2"/>
          </p:cNvPr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 tooltip="Days to convert inventory to cash vs retail peers. Lower is better; negative means suppliers finance operations."/>
              </a:rPr>
              <a:t>ⓘ</a:t>
            </a:r>
          </a:p>
        </p:txBody>
      </p:sp>
      <p:pic>
        <p:nvPicPr>
          <p:cNvPr id="4" name="Picture 3" descr="chart_cash_conversion_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Cash cycle at ~5 days is efficient for retail. Negative payables cycle offsets inventory days—suppliers help fund operations.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OCF vs CapEx</a:t>
            </a:r>
          </a:p>
        </p:txBody>
      </p:sp>
      <p:sp>
        <p:nvSpPr>
          <p:cNvPr id="3" name="TextBox 2">
            <a:hlinkClick r:id="rId2"/>
          </p:cNvPr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 tooltip="Operating cash vs capital spending. The gap between them is Free Cash Flow available for shareholders."/>
              </a:rPr>
              <a:t>ⓘ</a:t>
            </a:r>
          </a:p>
        </p:txBody>
      </p:sp>
      <p:pic>
        <p:nvPicPr>
          <p:cNvPr id="4" name="Picture 3" descr="chart_ocf_vs_cap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Free cash flow (OCF - CapEx) remains positive at ~$3B annually, supporting dividends. CapEx steady at $4-5B for store/digital investments.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3" name="Rectangle 2"/>
          <p:cNvSpPr/>
          <p:nvPr/>
        </p:nvSpPr>
        <p:spPr>
          <a:xfrm>
            <a:off x="365760" y="228600"/>
            <a:ext cx="1371600" cy="41148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SO WHAT?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33333"/>
                </a:solidFill>
              </a:defRPr>
            </a:pPr>
            <a:r>
              <a:t>Efficiency Under Pressure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8229600" cy="914400"/>
          </a:xfrm>
          <a:prstGeom prst="rect">
            <a:avLst/>
          </a:prstGeom>
          <a:solidFill>
            <a:srgbClr val="FFF0F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C0000"/>
                </a:solidFill>
              </a:defRPr>
            </a:pPr>
            <a:r>
              <a:t>KEY INSIGHT</a:t>
            </a:r>
          </a:p>
          <a:p>
            <a:pPr>
              <a:defRPr sz="1800" b="1">
                <a:solidFill>
                  <a:srgbClr val="333333"/>
                </a:solidFill>
              </a:defRPr>
            </a:pPr>
            <a:r>
              <a:t>Inventory days expanded while turnover slowed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33333"/>
                </a:solidFill>
              </a:defRPr>
            </a:pPr>
            <a:r>
              <a:t>Evidence: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Days Sales of Inventory increased to 65+ days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Cash conversion cycle extended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Asset turnover showing signs of decline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029200"/>
            <a:ext cx="8229600" cy="1097280"/>
          </a:xfrm>
          <a:prstGeom prst="rect">
            <a:avLst/>
          </a:prstGeom>
          <a:solidFill>
            <a:srgbClr val="F0F8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6636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66CC"/>
                </a:solidFill>
              </a:defRPr>
            </a:pPr>
            <a:r>
              <a:t>IMPLICATION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Working capital tied up in inventory; impacts free cash flow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PILLAR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Valuation &amp;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i="1">
                <a:solidFill>
                  <a:srgbClr val="646464"/>
                </a:solidFill>
              </a:defRPr>
            </a:pPr>
            <a:r>
              <a:t>"Is the stock fairly priced, and what are the risks?"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Valuation vs Growth</a:t>
            </a:r>
          </a:p>
        </p:txBody>
      </p:sp>
      <p:sp>
        <p:nvSpPr>
          <p:cNvPr id="3" name="TextBox 2">
            <a:hlinkClick r:id="rId2"/>
          </p:cNvPr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 tooltip="P/E ratio vs revenue growth for Target and peers. Lower-right quadrant = undervalued opportunities."/>
              </a:rPr>
              <a:t>ⓘ</a:t>
            </a:r>
          </a:p>
        </p:txBody>
      </p:sp>
      <p:pic>
        <p:nvPicPr>
          <p:cNvPr id="4" name="Picture 3" descr="chart_valuation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Target trades at 14x P/E with 1.6% revenue growth—below peers like Walmart (23x, 5% growth) and Costco (45x, 8% growth).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Historical P/E Band</a:t>
            </a:r>
          </a:p>
        </p:txBody>
      </p:sp>
      <p:sp>
        <p:nvSpPr>
          <p:cNvPr id="3" name="TextBox 2">
            <a:hlinkClick r:id="rId2"/>
          </p:cNvPr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 tooltip="Current price vs historical valuation range. Below 25th percentile = historically undervalued."/>
              </a:rPr>
              <a:t>ⓘ</a:t>
            </a:r>
          </a:p>
        </p:txBody>
      </p:sp>
      <p:pic>
        <p:nvPicPr>
          <p:cNvPr id="4" name="Picture 3" descr="chart_pe_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Current P/E of 14x is below the 5-year average of 18x—historically undervalued, but margin concerns may justify discount.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Cash Flow Sankey</a:t>
            </a:r>
          </a:p>
        </p:txBody>
      </p:sp>
      <p:sp>
        <p:nvSpPr>
          <p:cNvPr id="3" name="TextBox 2">
            <a:hlinkClick r:id="rId2"/>
          </p:cNvPr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 tooltip="Visualizes cash allocation: CapEx, dividends, buybacks, debt repayment. Shows management priorities."/>
              </a:rPr>
              <a:t>ⓘ</a:t>
            </a:r>
          </a:p>
        </p:txBody>
      </p:sp>
      <p:pic>
        <p:nvPicPr>
          <p:cNvPr id="4" name="Picture 3" descr="chart_cash_flow_san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~40% of operating CF goes to CapEx, 25% to dividends, 20% to buybacks. Balanced capital allocation despite margin pressure.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Risk Trends</a:t>
            </a:r>
          </a:p>
        </p:txBody>
      </p:sp>
      <p:sp>
        <p:nvSpPr>
          <p:cNvPr id="3" name="TextBox 2">
            <a:hlinkClick r:id="rId2"/>
          </p:cNvPr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 tooltip="Stacked area of risk mentions (shrink, theft, markdown) over time. Rising trends signal increasing concerns."/>
              </a:rPr>
              <a:t>ⓘ</a:t>
            </a:r>
          </a:p>
        </p:txBody>
      </p:sp>
      <p:pic>
        <p:nvPicPr>
          <p:cNvPr id="4" name="Picture 3" descr="chart_risk_tre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Shrink/theft mentions increased from 1/period (2020) to 3-4/period (2024-25). Management repeatedly flags this as a margin headwind.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Risk Heatmap</a:t>
            </a:r>
          </a:p>
        </p:txBody>
      </p:sp>
      <p:sp>
        <p:nvSpPr>
          <p:cNvPr id="3" name="TextBox 2">
            <a:hlinkClick r:id="rId2"/>
          </p:cNvPr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 tooltip="Intensity grid showing risk types by period. Dark cells = high concern in that area."/>
              </a:rPr>
              <a:t>ⓘ</a:t>
            </a:r>
          </a:p>
        </p:txBody>
      </p:sp>
      <p:pic>
        <p:nvPicPr>
          <p:cNvPr id="4" name="Picture 3" descr="chart_risk_heatmap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FY2023-Q3 2025 shows elevated risk across all categories. Shrink, markdown, and margin pressure are concurrent concerns.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C0000"/>
                </a:solidFill>
              </a:defRPr>
            </a:pPr>
            <a:r>
              <a:t>Strategic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8C00"/>
                </a:solidFill>
              </a:defRPr>
            </a:pPr>
            <a:r>
              <a:t>Recommendation: Hold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33333"/>
                </a:solidFill>
              </a:defRPr>
            </a:pPr>
            <a:r>
              <a:t>Key Strategic Questions to Monitor:</a:t>
            </a:r>
          </a:p>
          <a:p>
            <a:pPr>
              <a:spcAft>
                <a:spcPts val="800"/>
              </a:spcAft>
              <a:defRPr sz="1400" b="1">
                <a:solidFill>
                  <a:srgbClr val="CC0000"/>
                </a:solidFill>
              </a:defRPr>
            </a:pPr>
            <a:r>
              <a:t>• Margin Recovery: </a:t>
            </a:r>
            <a:r>
              <a:rPr sz="1400" b="0">
                <a:solidFill>
                  <a:srgbClr val="3C3C3C"/>
                </a:solidFill>
              </a:rPr>
              <a:t>Can Target restore operating margins to 5%+ in FY2025?</a:t>
            </a:r>
          </a:p>
          <a:p>
            <a:pPr>
              <a:spcAft>
                <a:spcPts val="800"/>
              </a:spcAft>
              <a:defRPr sz="1400" b="1">
                <a:solidFill>
                  <a:srgbClr val="CC0000"/>
                </a:solidFill>
              </a:defRPr>
            </a:pPr>
            <a:r>
              <a:t>• Interest Coverage: </a:t>
            </a:r>
            <a:r>
              <a:rPr sz="1400" b="0">
                <a:solidFill>
                  <a:srgbClr val="3C3C3C"/>
                </a:solidFill>
              </a:rPr>
              <a:t>Will interest coverage stabilize above 2.0x warning threshold?</a:t>
            </a:r>
          </a:p>
          <a:p>
            <a:pPr>
              <a:spcAft>
                <a:spcPts val="800"/>
              </a:spcAft>
              <a:defRPr sz="1400" b="1">
                <a:solidFill>
                  <a:srgbClr val="CC0000"/>
                </a:solidFill>
              </a:defRPr>
            </a:pPr>
            <a:r>
              <a:t>• Inventory Management: </a:t>
            </a:r>
            <a:r>
              <a:rPr sz="1400" b="0">
                <a:solidFill>
                  <a:srgbClr val="3C3C3C"/>
                </a:solidFill>
              </a:rPr>
              <a:t>Can inventory levels normalize without significant markdowns?</a:t>
            </a:r>
          </a:p>
          <a:p>
            <a:pPr>
              <a:spcAft>
                <a:spcPts val="800"/>
              </a:spcAft>
              <a:defRPr sz="1400" b="1">
                <a:solidFill>
                  <a:srgbClr val="CC0000"/>
                </a:solidFill>
              </a:defRPr>
            </a:pPr>
            <a:r>
              <a:t>• Debt Maturities: </a:t>
            </a:r>
            <a:r>
              <a:rPr sz="1400" b="0">
                <a:solidFill>
                  <a:srgbClr val="3C3C3C"/>
                </a:solidFill>
              </a:rPr>
              <a:t>How will Target refinance $2B debt maturing in FY2026?</a:t>
            </a:r>
          </a:p>
          <a:p>
            <a:pPr>
              <a:spcAft>
                <a:spcPts val="800"/>
              </a:spcAft>
              <a:defRPr sz="1400" b="1">
                <a:solidFill>
                  <a:srgbClr val="CC0000"/>
                </a:solidFill>
              </a:defRPr>
            </a:pPr>
            <a:r>
              <a:t>• Competitive Position: </a:t>
            </a:r>
            <a:r>
              <a:rPr sz="1400" b="0">
                <a:solidFill>
                  <a:srgbClr val="3C3C3C"/>
                </a:solidFill>
              </a:rPr>
              <a:t>Can Target differentiate vs Walmart/Amazon in a slowing consumer environment?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669280"/>
            <a:ext cx="8229600" cy="822960"/>
          </a:xfrm>
          <a:prstGeom prst="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80644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Bottom Line: </a:t>
            </a:r>
            <a:r>
              <a:rPr sz="1200" b="0">
                <a:solidFill>
                  <a:srgbClr val="505050"/>
                </a:solidFill>
              </a:rPr>
              <a:t>Margin pressure and elevated risks warrant caution; watch for stabilization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