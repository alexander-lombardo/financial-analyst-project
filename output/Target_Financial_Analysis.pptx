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market_context.html" TargetMode="Externa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netincome_annual.html" TargetMode="Externa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growth_yoy.html" TargetMode="Externa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vs_inventory.html" TargetMode="Externa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evenue_netincome_longterm.html" TargetMode="Externa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margin_analysis.html" TargetMode="Externa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margin_bridge.html" TargetMode="Externa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expense_breakdown.html" TargetMode="External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ebitda_bridge.html" TargetMode="External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operating_margin_waterfall.html" TargetMode="External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earnings_quality.html" TargetMode="Externa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urrent_ratio_gauge.html" TargetMode="Externa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pital_structure_donut.html" TargetMode="External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debt_to_ebitda_trend.html" TargetMode="External"/><Relationship Id="rId3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debt_health.html" TargetMode="Externa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sh_flows.html" TargetMode="External"/><Relationship Id="rId3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dupont_analysis.html" TargetMode="External"/><Relationship Id="rId3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inventory_efficiency.html" TargetMode="External"/><Relationship Id="rId3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sh_conversion_cycle.html" TargetMode="External"/><Relationship Id="rId3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ocf_vs_capex.html" TargetMode="External"/><Relationship Id="rId3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valuation_scatter.html" TargetMode="External"/><Relationship Id="rId3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pe_band.html" TargetMode="External"/><Relationship Id="rId3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cash_flow_sankey.html" TargetMode="External"/><Relationship Id="rId3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isk_trends.html" TargetMode="External"/><Relationship Id="rId3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file:///Users/alex/Documents/dev/financial-analyst-project/output/chart_risk_heatmap_grid.html" TargetMode="External"/><Relationship Id="rId3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C0000"/>
                </a:solidFill>
              </a:defRPr>
            </a:pPr>
            <a:r>
              <a:t>Target Corporation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Financial Analysis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808080"/>
                </a:solidFill>
              </a:defRPr>
            </a:pPr>
            <a:r>
              <a:t>5 Pillars of Financial Analysis | 24 Interactive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69696"/>
                </a:solidFill>
              </a:defRPr>
            </a:pPr>
            <a:r>
              <a:t>Data: FY2015 - Q3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FY2024 Baseline Performance</a:t>
            </a:r>
          </a:p>
          <a:p>
            <a:pPr>
              <a:spcAft>
                <a:spcPts val="300"/>
              </a:spcAft>
              <a:defRPr sz="1400"/>
            </a:pPr>
            <a:r>
              <a:t>   Net Sales: $26.12B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3.91%</a:t>
            </a:r>
          </a:p>
          <a:p>
            <a:pPr>
              <a:spcAft>
                <a:spcPts val="300"/>
              </a:spcAft>
              <a:defRPr sz="1400"/>
            </a:pPr>
            <a:r>
              <a:t>   Gross Margin: 24.66%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Latest Quarter Highlights</a:t>
            </a:r>
          </a:p>
          <a:p>
            <a:pPr>
              <a:spcAft>
                <a:spcPts val="300"/>
              </a:spcAft>
              <a:defRPr sz="1400"/>
            </a:pPr>
            <a:r>
              <a:t>   Operating Margin: 3.75%</a:t>
            </a:r>
          </a:p>
          <a:p>
            <a:pPr>
              <a:spcAft>
                <a:spcPts val="300"/>
              </a:spcAft>
              <a:defRPr sz="1400"/>
            </a:pPr>
            <a:r>
              <a:t>   Inventory: $14.90B</a:t>
            </a:r>
          </a:p>
          <a:p>
            <a:pPr>
              <a:spcAft>
                <a:spcPts val="300"/>
              </a:spcAft>
              <a:defRPr sz="1400"/>
            </a:pPr>
            <a:r>
              <a:t>   See pillar charts for detailed trends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600"/>
              </a:spcAft>
              <a:defRPr sz="1800" b="1">
                <a:solidFill>
                  <a:srgbClr val="CC0000"/>
                </a:solidFill>
              </a:defRPr>
            </a:pPr>
            <a:r>
              <a:t>5 Pillars Covered</a:t>
            </a:r>
          </a:p>
          <a:p>
            <a:pPr>
              <a:spcAft>
                <a:spcPts val="300"/>
              </a:spcAft>
              <a:defRPr sz="1400"/>
            </a:pPr>
            <a:r>
              <a:t>   1. Growth &amp; Revenue - 4 charts</a:t>
            </a:r>
          </a:p>
          <a:p>
            <a:pPr>
              <a:spcAft>
                <a:spcPts val="300"/>
              </a:spcAft>
              <a:defRPr sz="1400"/>
            </a:pPr>
            <a:r>
              <a:t>   2. Profitability &amp; Margins - 6 charts</a:t>
            </a:r>
          </a:p>
          <a:p>
            <a:pPr>
              <a:spcAft>
                <a:spcPts val="300"/>
              </a:spcAft>
              <a:defRPr sz="1400"/>
            </a:pPr>
            <a:r>
              <a:t>   3. Liquidity &amp; Solvency - 5 charts</a:t>
            </a:r>
          </a:p>
          <a:p>
            <a:pPr>
              <a:spcAft>
                <a:spcPts val="300"/>
              </a:spcAft>
              <a:defRPr sz="1400"/>
            </a:pPr>
            <a:r>
              <a:t>   4. Operational Efficiency - 4 charts</a:t>
            </a:r>
          </a:p>
          <a:p>
            <a:pPr>
              <a:spcAft>
                <a:spcPts val="300"/>
              </a:spcAft>
              <a:defRPr sz="1400"/>
            </a:pPr>
            <a:r>
              <a:t>   5. Valuation &amp; Risk - 5 charts</a:t>
            </a:r>
          </a:p>
          <a:p>
            <a:pPr>
              <a:spcAft>
                <a:spcPts val="120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Market Context: TGT vs S&amp;P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market_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TGT underperformed S&amp;P 500 by 102pp over 3 years. Beta dropped to 0.28 (less volatile than market)—defensive but lagging in bull markets.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8C00"/>
                </a:solidFill>
              </a:defRPr>
            </a:pPr>
            <a:r>
              <a:t>Recommendation: Hold</a:t>
            </a:r>
          </a:p>
          <a:p>
            <a:pPr>
              <a:spcAft>
                <a:spcPts val="600"/>
              </a:spcAft>
              <a:defRPr sz="1600"/>
            </a:pPr>
            <a:r>
              <a:t>Margin pressure and elevated risks warrant caution; watch for stabilization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Risk Factors</a:t>
            </a:r>
          </a:p>
          <a:p>
            <a:pPr>
              <a:defRPr sz="1400" b="1"/>
            </a:pPr>
            <a:r>
              <a:t>Shrink/Theft (High)</a:t>
            </a:r>
          </a:p>
          <a:p>
            <a:pPr lvl="1">
              <a:spcAft>
                <a:spcPts val="600"/>
              </a:spcAft>
              <a:defRPr sz="1200"/>
            </a:pPr>
            <a:r>
              <a:t>22 mentions across 8 periods, avg 2.8/period</a:t>
            </a:r>
          </a:p>
          <a:p>
            <a:pPr>
              <a:defRPr sz="1400" b="1"/>
            </a:pPr>
            <a:r>
              <a:t>Interest Coverage Decline (Medium)</a:t>
            </a:r>
          </a:p>
          <a:p>
            <a:pPr lvl="1">
              <a:spcAft>
                <a:spcPts val="600"/>
              </a:spcAft>
              <a:defRPr sz="1200"/>
            </a:pPr>
            <a:r>
              <a:t>Coverage dropped 27% QoQ (11.3x → 8.2x)</a:t>
            </a:r>
          </a:p>
          <a:p>
            <a:pPr>
              <a:defRPr sz="1400" b="1"/>
            </a:pPr>
            <a:r>
              <a:t>Margin Compression (High)</a:t>
            </a:r>
          </a:p>
          <a:p>
            <a:pPr lvl="1">
              <a:spcAft>
                <a:spcPts val="600"/>
              </a:spcAft>
              <a:defRPr sz="1200"/>
            </a:pPr>
            <a:r>
              <a:t>Operating margin 3.8% vs 7.1% baseline (-3.3pp)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2286000"/>
            <a:ext cx="3886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/>
            </a:pPr>
            <a:r>
              <a:t>Opportunities</a:t>
            </a:r>
          </a:p>
          <a:p>
            <a:pPr>
              <a:defRPr sz="1400" b="1"/>
            </a:pPr>
            <a:r>
              <a:t>Digital Sales Growth (Medium potential)</a:t>
            </a:r>
          </a:p>
          <a:p>
            <a:pPr lvl="1">
              <a:spcAft>
                <a:spcPts val="600"/>
              </a:spcAft>
              <a:defRPr sz="1200"/>
            </a:pPr>
            <a:r>
              <a:t>Digital comp sales 2.4% (slowing from 4.3%)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Growth &amp;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is the business growing?"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(10-Year)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revenue_netincome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Revenue grew 50% ($70B→$105B) over 10 years, but net income peaked in FY2021 at $7.1B then dropped 44% to $4.0B—profits not keeping pace with top-line growth.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Growth YoY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revenue_growth_y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Growth has decelerated sharply: from 20%+ during COVID to just 1.6% in Q3 2025. Target is now a low-single-digit grower.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vs Inventory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revenue_vs_inven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Inventory growth outpaced revenue in FY2022-23, creating markdown risk. Recent quarters show better alignment as inventory normalizes.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Revenue &amp; Net Income (Quarterly)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revenue_netincome_longte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Q4 holiday peaks are visible, but FY2022-23 saw net income collapse despite stable revenue—margin compression is the 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Growth Summary: The Revenue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Revenue growth has stalled at ~2% YoY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Revenue grew only 1.6% in Q3 2025 vs prior year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Inventory up 17% while sales growth slowed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Clearance risk from excess inventory buildup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Slowing growth limits pricing power; watch for markdown pressure in Q4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Profitability &amp; Margins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efficiently is the company generating profits?"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Analysis (Gross/Operating/Net)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margin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Operating margin compressed from 7.1% (FY2020) to 3.75% (Q3 2025)—a 3.3pp drop. Gross margin held steady, so the leak is in SG&amp;A and shrink.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Margin Bridge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margin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From FY2022 baseline, margins deteriorated in 5 of 8 periods. The FY2023 trough (-2.4pp) shows the inventory markdown pain.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Expense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expens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SG&amp;A as % of revenue crept up from 19% to 21% since FY2020. This 2pp increase directly explains half the margin compression.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EBITDA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ebitda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D&amp;A adds ~$2.8B to operating income, but EBITDA margin still declined from 9.5% to 6.5% over three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Operating Margin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operating_margin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Q3 margins consistently underperform Q4 due to holiday leverage. FY2023 Q2-Q3 saw the steepest drops (-1.5pp each).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Earnings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earnings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Operating cash flow exceeds net income in most periods—earnings quality is solid. Working capital swings cause quarterly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Margin Compression Alert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Operating margin dropped 1.47% (5.22% → 3.75%)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Inventory up 17% while margins declined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Clearance risk from excess inventory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Shrink/theft mentioned in all quarterly filings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Q4 margin recovery is critical; watch for promotional activity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Liquidity &amp; Solvency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"Can the company pay its bills today and debts in the future?"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Current Ratio Gauge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current_ratio_gau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Current ratio at 0.92x is below 1.0—current liabilities exceed current assets. Typical for retail but warrants monitoring.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Capital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capital_structure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Debt represents ~65% of capital structure. Leverage increased as buybacks reduced equity 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Debt-to-EBITDA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debt_to_ebitda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Debt/EBITDA rose from 1.5x (FY2020) to 3.8x (FY2024) as EBITDA declined while debt stayed flat. Approaching the 4x caution zone.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Debt Health (Interest Coverage)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debt_heal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Interest coverage dropped from 11.3x to 8.2x QoQ—a 27% decline. Still comfortable above 3x but trending wrong direction.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Statement of Cash 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cash_fl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Operating CF remains positive ($1-2B/quarter) but investing CF shows steady CapEx spend. Financing CF negative due to dividends.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Interest Coverage Crisis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Coverage collapsed from 9.7x to 1.5x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Debt increased 7.5% to $15.37B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Below 1.5x triggers covenant concerns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$2B debt matures FY2026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Refinancing risk; watch debt maturities and interest rates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"How well is the company using its assets?"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DuPont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dupont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ROE driven primarily by leverage (3.2x), not margins (3.8%) or turnover (1.8x). Declining margins are dragging returns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Inventory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inventory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Inventory turns improved from 5.8x to 6.2x as Target worked through excess stock. Days on hand dropped from 63 to 59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Conversion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cash_conver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Cash cycle at ~5 days is efficient for retail. Negative payables cycle offsets inventory days—suppliers help fund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OCF vs CapEx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ocf_vs_cap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Free cash flow (OCF - CapEx) remains positive at ~$3B annually, supporting dividends. CapEx steady at $4-5B for store/digital investments.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365760" y="228600"/>
            <a:ext cx="1371600" cy="41148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 WHAT?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Efficiency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8229600" cy="914400"/>
          </a:xfrm>
          <a:prstGeom prst="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C0000"/>
                </a:solidFill>
              </a:defRPr>
            </a:pPr>
            <a:r>
              <a:t>KEY INSIGHT</a:t>
            </a:r>
          </a:p>
          <a:p>
            <a:pPr>
              <a:defRPr sz="1800" b="1">
                <a:solidFill>
                  <a:srgbClr val="333333"/>
                </a:solidFill>
              </a:defRPr>
            </a:pPr>
            <a:r>
              <a:t>Inventory days expanded while turnover slowed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33333"/>
                </a:solidFill>
              </a:defRPr>
            </a:pPr>
            <a:r>
              <a:t>Evidence: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Days Sales of Inventory increased to 65+ days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Cash conversion cycle extended</a:t>
            </a:r>
          </a:p>
          <a:p>
            <a:pPr>
              <a:spcAft>
                <a:spcPts val="400"/>
              </a:spcAft>
              <a:defRPr sz="1400">
                <a:solidFill>
                  <a:srgbClr val="505050"/>
                </a:solidFill>
              </a:defRPr>
            </a:pPr>
            <a:r>
              <a:t>• Asset turnover showing signs of decline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0F8FF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CC"/>
                </a:solidFill>
              </a:defRPr>
            </a:pPr>
            <a:r>
              <a:t>IMPLICATION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Working capital tied up in inventory; impacts free cash flow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828800"/>
          </a:xfrm>
          <a:prstGeom prst="rect">
            <a:avLst/>
          </a:prstGeom>
          <a:solidFill>
            <a:srgbClr val="CC000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PILLAR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Valuation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i="1">
                <a:solidFill>
                  <a:srgbClr val="646464"/>
                </a:solidFill>
              </a:defRPr>
            </a:pPr>
            <a:r>
              <a:t>"Is the stock fairly priced, and what are the risks?"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Valuation vs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valu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Target trades at 14x P/E with 1.6% revenue growth—below peers like Walmart (23x, 5% growth) and Costco (45x, 8% growth).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Historical P/E Band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pe_b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Current P/E of 14x is below the 5-year average of 18x—historically undervalued, but margin concerns may justify discount.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Cash Flow 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cash_flow_san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~40% of operating CF goes to CapEx, 25% to dividends, 20% to buybacks. Balanced capital allocation despite margin pressure.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risk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Shrink/theft mentions increased from 1/period (2020) to 3-4/period (2024-25). Management repeatedly flags this as a margin headwind.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Risk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28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646464"/>
                </a:solidFill>
                <a:hlinkClick r:id="rId2"/>
              </a:rPr>
              <a:t>ⓘ</a:t>
            </a:r>
          </a:p>
        </p:txBody>
      </p:sp>
      <p:pic>
        <p:nvPicPr>
          <p:cNvPr id="4" name="Picture 3" descr="chart_risk_heatmap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3152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23232"/>
                </a:solidFill>
              </a:defRPr>
            </a:pPr>
            <a:r>
              <a:t>FY2023-Q3 2025 shows elevated risk across all categories. Shrink, markdown, and margin pressure are concurrent concerns.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u="sng">
                <a:solidFill>
                  <a:srgbClr val="0066CC"/>
                </a:solidFill>
                <a:hlinkClick r:id="rId2"/>
              </a:rPr>
              <a:t>📊 Click for interactive version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C0000"/>
                </a:solidFill>
              </a:defRPr>
            </a:pPr>
            <a:r>
              <a:t>Strategic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8C00"/>
                </a:solidFill>
              </a:defRPr>
            </a:pPr>
            <a:r>
              <a:t>Recommendation: 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33333"/>
                </a:solidFill>
              </a:defRPr>
            </a:pPr>
            <a:r>
              <a:t>Key Strategic Questions to Monitor: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Margin Recovery: </a:t>
            </a:r>
            <a:r>
              <a:rPr sz="1400" b="0">
                <a:solidFill>
                  <a:srgbClr val="3C3C3C"/>
                </a:solidFill>
              </a:rPr>
              <a:t>Can Target restore operating margins to 5%+ in FY2025?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Interest Coverage: </a:t>
            </a:r>
            <a:r>
              <a:rPr sz="1400" b="0">
                <a:solidFill>
                  <a:srgbClr val="3C3C3C"/>
                </a:solidFill>
              </a:rPr>
              <a:t>Will interest coverage stabilize above 2.0x warning threshold?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Inventory Management: </a:t>
            </a:r>
            <a:r>
              <a:rPr sz="1400" b="0">
                <a:solidFill>
                  <a:srgbClr val="3C3C3C"/>
                </a:solidFill>
              </a:rPr>
              <a:t>Can inventory levels normalize without significant markdowns?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Debt Maturities: </a:t>
            </a:r>
            <a:r>
              <a:rPr sz="1400" b="0">
                <a:solidFill>
                  <a:srgbClr val="3C3C3C"/>
                </a:solidFill>
              </a:rPr>
              <a:t>How will Target refinance $2B debt maturing in FY2026?</a:t>
            </a:r>
          </a:p>
          <a:p>
            <a:pPr>
              <a:spcAft>
                <a:spcPts val="800"/>
              </a:spcAft>
              <a:defRPr sz="1400" b="1">
                <a:solidFill>
                  <a:srgbClr val="CC0000"/>
                </a:solidFill>
              </a:defRPr>
            </a:pPr>
            <a:r>
              <a:t>• Competitive Position: </a:t>
            </a:r>
            <a:r>
              <a:rPr sz="1400" b="0">
                <a:solidFill>
                  <a:srgbClr val="3C3C3C"/>
                </a:solidFill>
              </a:rPr>
              <a:t>Can Target differentiate vs Walmart/Amazon in a slowing consumer environment?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669280"/>
            <a:ext cx="82296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Bottom Line: </a:t>
            </a:r>
            <a:r>
              <a:rPr sz="1200" b="0">
                <a:solidFill>
                  <a:srgbClr val="505050"/>
                </a:solidFill>
              </a:rPr>
              <a:t>Margin pressure and elevated risks warrant caution; watch for stabilization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