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/Users/alex/Documents/dev/financial-analyst-project/output/chart_revenue_vs_inventory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/Users/alex/Documents/dev/financial-analyst-project/output/chart_margin_analysis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/Users/alex/Documents/dev/financial-analyst-project/output/chart_debt_health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/Users/alex/Documents/dev/financial-analyst-project/output/chart_inventory_efficiency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/Users/alex/Documents/dev/financial-analyst-project/output/chart_valuation_scatter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/Users/alex/Documents/dev/financial-analyst-project/output/chart_risk_heatmap_grid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/Users/alex/Documents/dev/financial-analyst-project/output/chart_revenue_netincome_annual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/Users/alex/Documents/dev/financial-analyst-project/output/chart_revenue_growth_yoy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/Users/alex/Documents/dev/financial-analyst-project/output/chart_revenue_netincome_longterm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/Users/alex/Documents/dev/financial-analyst-project/output/chart_margin_bridge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/Users/alex/Documents/dev/financial-analyst-project/output/chart_expense_breakdown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/Users/alex/Documents/dev/financial-analyst-project/output/chart_ebitda_bridge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/Users/alex/Documents/dev/financial-analyst-project/output/chart_operating_margin_waterfall.html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/Users/alex/Documents/dev/financial-analyst-project/output/chart_earnings_quality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/Users/alex/Documents/dev/financial-analyst-project/output/chart_current_ratio_gauge.html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/Users/alex/Documents/dev/financial-analyst-project/output/chart_capital_structure_donut.html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/Users/alex/Documents/dev/financial-analyst-project/output/chart_debt_to_ebitda_trend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/Users/alex/Documents/dev/financial-analyst-project/output/chart_cash_flows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/Users/alex/Documents/dev/financial-analyst-project/output/chart_dupont_analysis.html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hyperlink" Target="/Users/alex/Documents/dev/financial-analyst-project/output/chart_cash_conversion_cycle.html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/Users/alex/Documents/dev/financial-analyst-project/output/chart_ocf_vs_capex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/Users/alex/Documents/dev/financial-analyst-project/output/chart_pe_band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hyperlink" Target="/Users/alex/Documents/dev/financial-analyst-project/output/chart_cash_flow_sankey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hyperlink" Target="/Users/alex/Documents/dev/financial-analyst-project/output/chart_risk_trends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CC0000"/>
                </a:solidFill>
              </a:defRPr>
            </a:pPr>
            <a:r>
              <a:t>Target Corporation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/>
            </a:pPr>
            <a:r>
              <a:t>Financial Analysis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5 Pillars of Financial Analysis | 24 Interactive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Data: FY2015 - Q3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FY2024 Baseline Performance</a:t>
            </a:r>
          </a:p>
          <a:p>
            <a:pPr>
              <a:spcAft>
                <a:spcPts val="300"/>
              </a:spcAft>
              <a:defRPr sz="1400"/>
            </a:pPr>
            <a:r>
              <a:t>   Net Sales: $26.12B</a:t>
            </a:r>
          </a:p>
          <a:p>
            <a:pPr>
              <a:spcAft>
                <a:spcPts val="300"/>
              </a:spcAft>
              <a:defRPr sz="1400"/>
            </a:pPr>
            <a:r>
              <a:t>   Operating Margin: 3.91%</a:t>
            </a:r>
          </a:p>
          <a:p>
            <a:pPr>
              <a:spcAft>
                <a:spcPts val="300"/>
              </a:spcAft>
              <a:defRPr sz="1400"/>
            </a:pPr>
            <a:r>
              <a:t>   Gross Margin: 24.66%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Latest Quarter Highlights</a:t>
            </a:r>
          </a:p>
          <a:p>
            <a:pPr>
              <a:spcAft>
                <a:spcPts val="300"/>
              </a:spcAft>
              <a:defRPr sz="1400"/>
            </a:pPr>
            <a:r>
              <a:t>   Operating Margin: 3.75%</a:t>
            </a:r>
          </a:p>
          <a:p>
            <a:pPr>
              <a:spcAft>
                <a:spcPts val="300"/>
              </a:spcAft>
              <a:defRPr sz="1400"/>
            </a:pPr>
            <a:r>
              <a:t>   Inventory: $14.90B</a:t>
            </a:r>
          </a:p>
          <a:p>
            <a:pPr>
              <a:spcAft>
                <a:spcPts val="300"/>
              </a:spcAft>
              <a:defRPr sz="1400"/>
            </a:pPr>
            <a:r>
              <a:t>   See pillar charts for detailed trends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5 Pillars Covered</a:t>
            </a:r>
          </a:p>
          <a:p>
            <a:pPr>
              <a:spcAft>
                <a:spcPts val="300"/>
              </a:spcAft>
              <a:defRPr sz="1400"/>
            </a:pPr>
            <a:r>
              <a:t>   1. Growth &amp; Revenue - 4 charts</a:t>
            </a:r>
          </a:p>
          <a:p>
            <a:pPr>
              <a:spcAft>
                <a:spcPts val="300"/>
              </a:spcAft>
              <a:defRPr sz="1400"/>
            </a:pPr>
            <a:r>
              <a:t>   2. Profitability &amp; Margins - 6 charts</a:t>
            </a:r>
          </a:p>
          <a:p>
            <a:pPr>
              <a:spcAft>
                <a:spcPts val="300"/>
              </a:spcAft>
              <a:defRPr sz="1400"/>
            </a:pPr>
            <a:r>
              <a:t>   3. Liquidity &amp; Solvency - 5 charts</a:t>
            </a:r>
          </a:p>
          <a:p>
            <a:pPr>
              <a:spcAft>
                <a:spcPts val="300"/>
              </a:spcAft>
              <a:defRPr sz="1400"/>
            </a:pPr>
            <a:r>
              <a:t>   4. Operational Efficiency - 4 charts</a:t>
            </a:r>
          </a:p>
          <a:p>
            <a:pPr>
              <a:spcAft>
                <a:spcPts val="300"/>
              </a:spcAft>
              <a:defRPr sz="1400"/>
            </a:pPr>
            <a:r>
              <a:t>   5. Valuation &amp; Risk - 5 charts</a:t>
            </a:r>
          </a:p>
          <a:p>
            <a:pPr>
              <a:spcAft>
                <a:spcPts val="12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Investment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8C00"/>
                </a:solidFill>
              </a:defRPr>
            </a:pPr>
            <a:r>
              <a:t>Recommendation: Hold</a:t>
            </a:r>
          </a:p>
          <a:p>
            <a:pPr>
              <a:spcAft>
                <a:spcPts val="600"/>
              </a:spcAft>
              <a:defRPr sz="1600"/>
            </a:pPr>
            <a:r>
              <a:t>Balanced risk/opportunity profile with execution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3886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Risk Factors</a:t>
            </a:r>
          </a:p>
          <a:p>
            <a:pPr>
              <a:defRPr sz="1400" b="1"/>
            </a:pPr>
            <a:r>
              <a:t>Shrink/Theft (High)</a:t>
            </a:r>
          </a:p>
          <a:p>
            <a:pPr lvl="1">
              <a:spcAft>
                <a:spcPts val="600"/>
              </a:spcAft>
              <a:defRPr sz="1200"/>
            </a:pPr>
            <a:r>
              <a:t>22 mentions across 8 periods, avg 2.8/period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2286000"/>
            <a:ext cx="3886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 b="1"/>
            </a:pPr>
            <a:r>
              <a:t>Opportunities</a:t>
            </a:r>
          </a:p>
          <a:p>
            <a:pPr>
              <a:defRPr sz="1400" b="1"/>
            </a:pPr>
            <a:r>
              <a:t>Digital Sales Growth (High potential)</a:t>
            </a:r>
          </a:p>
          <a:p>
            <a:pPr lvl="1">
              <a:spcAft>
                <a:spcPts val="600"/>
              </a:spcAft>
              <a:defRPr sz="1200"/>
            </a:pPr>
            <a:r>
              <a:t>Digital comp sales up 2.4% in latest quarter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Earning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Revenue Growth vs Margin Compression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"Can Target grow revenue while protecting margins?"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Revenue vs Inventory Growth</a:t>
            </a:r>
          </a:p>
        </p:txBody>
      </p:sp>
      <p:pic>
        <p:nvPicPr>
          <p:cNvPr id="3" name="Picture 2" descr="chart_revenue_vs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Compares revenue growth to inventory buildup. Inventory growing faster than sales signals potential markdown risk.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Margin Analysis</a:t>
            </a:r>
          </a:p>
        </p:txBody>
      </p:sp>
      <p:pic>
        <p:nvPicPr>
          <p:cNvPr id="3" name="Picture 2" descr="chart_marg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Three margin lines tracking profitability over time. Compression between lines reveals where profits leak.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3" name="Rectangle 2"/>
          <p:cNvSpPr/>
          <p:nvPr/>
        </p:nvSpPr>
        <p:spPr>
          <a:xfrm>
            <a:off x="365760" y="228600"/>
            <a:ext cx="1371600" cy="41148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The Earning Power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FF0F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0000"/>
                </a:solidFill>
              </a:defRPr>
            </a:pPr>
            <a:r>
              <a:t>KEY INSIGHT</a:t>
            </a: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Revenue +2% but Operating Margin -1.47%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Evidence:</a:t>
            </a:r>
          </a:p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</a:defRPr>
            </a:pPr>
            <a:r>
              <a:t>• Inventory up 17% while sales growth slowed</a:t>
            </a:r>
          </a:p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</a:defRPr>
            </a:pPr>
            <a:r>
              <a:t>• Clearance risk from excess inventory buildup</a:t>
            </a:r>
          </a:p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</a:defRPr>
            </a:pPr>
            <a:r>
              <a:t>• SG&amp;A expenses rising faster than revenue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IMPLICATION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Q4 margin recovery is critical; watch for promotional 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Liquidity &amp; Capital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Debt Health vs Operational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"Can Target service debt while managing working capital?"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Debt Health (Interest Coverage)</a:t>
            </a:r>
          </a:p>
        </p:txBody>
      </p:sp>
      <p:pic>
        <p:nvPicPr>
          <p:cNvPr id="3" name="Picture 2" descr="chart_debt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Interest coverage ratio tracking. Above 3x is comfortable; below 2x requires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Inventory Efficiency</a:t>
            </a:r>
          </a:p>
        </p:txBody>
      </p:sp>
      <p:pic>
        <p:nvPicPr>
          <p:cNvPr id="3" name="Picture 2" descr="chart_inventory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Tracks turnover ratio and days on hand. Faster turns = less capital tied up in inventory.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3" name="Rectangle 2"/>
          <p:cNvSpPr/>
          <p:nvPr/>
        </p:nvSpPr>
        <p:spPr>
          <a:xfrm>
            <a:off x="365760" y="228600"/>
            <a:ext cx="1371600" cy="41148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 WHAT?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33333"/>
                </a:solidFill>
              </a:defRPr>
            </a:pPr>
            <a:r>
              <a:t>The Liquidity Squeeze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solidFill>
            <a:srgbClr val="FFF0F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C0000"/>
                </a:solidFill>
              </a:defRPr>
            </a:pPr>
            <a:r>
              <a:t>KEY INSIGHT</a:t>
            </a:r>
          </a:p>
          <a:p>
            <a:pPr>
              <a:defRPr sz="1800" b="1">
                <a:solidFill>
                  <a:srgbClr val="333333"/>
                </a:solidFill>
              </a:defRPr>
            </a:pPr>
            <a:r>
              <a:t>Interest coverage collapsed 9.7x → 1.5x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33333"/>
                </a:solidFill>
              </a:defRPr>
            </a:pPr>
            <a:r>
              <a:t>Evidence:</a:t>
            </a:r>
          </a:p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</a:defRPr>
            </a:pPr>
            <a:r>
              <a:t>• Debt increased 7.5% to $15.37B</a:t>
            </a:r>
          </a:p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</a:defRPr>
            </a:pPr>
            <a:r>
              <a:t>• Below 1.5x coverage triggers covenant concerns</a:t>
            </a:r>
          </a:p>
          <a:p>
            <a:pPr>
              <a:spcAft>
                <a:spcPts val="400"/>
              </a:spcAft>
              <a:defRPr sz="1400">
                <a:solidFill>
                  <a:srgbClr val="505050"/>
                </a:solidFill>
              </a:defRPr>
            </a:pPr>
            <a:r>
              <a:t>• $2B debt matures FY2026 amid rate uncertainty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0F8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66CC"/>
                </a:solidFill>
              </a:defRPr>
            </a:pPr>
            <a:r>
              <a:t>IMPLICATION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Refinancing risk; watch debt maturities and free cash 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Valuation &amp;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Is the Discount Justified?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i="1">
                <a:solidFill>
                  <a:srgbClr val="646464"/>
                </a:solidFill>
              </a:defRPr>
            </a:pPr>
            <a:r>
              <a:t>"Is TGT cheap for a reason?"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Valuation vs Growth</a:t>
            </a:r>
          </a:p>
        </p:txBody>
      </p:sp>
      <p:pic>
        <p:nvPicPr>
          <p:cNvPr id="3" name="Picture 2" descr="chart_valuatio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P/E ratio vs revenue growth for Target and peers. Lower-right quadrant = undervalued opportunities.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C0000"/>
                </a:solidFill>
              </a:defRPr>
            </a:pPr>
            <a:r>
              <a:t>Risk Heatmap</a:t>
            </a:r>
          </a:p>
        </p:txBody>
      </p:sp>
      <p:pic>
        <p:nvPicPr>
          <p:cNvPr id="3" name="Picture 2" descr="chart_risk_heatmap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6464"/>
                </a:solidFill>
              </a:defRPr>
            </a:pPr>
            <a:r>
              <a:t>Intensity grid showing risk types by period. Dark cells = high concern in that area.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📊 Click for interactive version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Strategic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8C00"/>
                </a:solidFill>
              </a:defRPr>
            </a:pPr>
            <a:r>
              <a:t>Recommendation: 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33333"/>
                </a:solidFill>
              </a:defRPr>
            </a:pPr>
            <a:r>
              <a:t>Key Strategic Questions:</a:t>
            </a:r>
          </a:p>
          <a:p>
            <a:pPr>
              <a:defRPr sz="1400" b="1">
                <a:solidFill>
                  <a:srgbClr val="CC0000"/>
                </a:solidFill>
              </a:defRPr>
            </a:pPr>
            <a:r>
              <a:t>Clearance Sale Risk</a:t>
            </a:r>
          </a:p>
          <a:p>
            <a:pPr>
              <a:spcAft>
                <a:spcPts val="1200"/>
              </a:spcAft>
              <a:defRPr sz="1300">
                <a:solidFill>
                  <a:srgbClr val="3C3C3C"/>
                </a:solidFill>
              </a:defRPr>
            </a:pPr>
            <a:r>
              <a:t>Can Target execute a controlled inventory drawdown, or will excess inventory force deep discounting that crushes margins further?</a:t>
            </a:r>
          </a:p>
          <a:p>
            <a:pPr>
              <a:defRPr sz="1400" b="1">
                <a:solidFill>
                  <a:srgbClr val="CC0000"/>
                </a:solidFill>
              </a:defRPr>
            </a:pPr>
            <a:r>
              <a:t>Refinancing Risk</a:t>
            </a:r>
          </a:p>
          <a:p>
            <a:pPr>
              <a:spcAft>
                <a:spcPts val="1200"/>
              </a:spcAft>
              <a:defRPr sz="1300">
                <a:solidFill>
                  <a:srgbClr val="3C3C3C"/>
                </a:solidFill>
              </a:defRPr>
            </a:pPr>
            <a:r>
              <a:t>With $2B debt maturing FY2026 and interest coverage at 1.5x, how will Target refinance in a higher rate environment?</a:t>
            </a:r>
          </a:p>
          <a:p>
            <a:pPr>
              <a:defRPr sz="1400" b="1">
                <a:solidFill>
                  <a:srgbClr val="CC0000"/>
                </a:solidFill>
              </a:defRPr>
            </a:pPr>
            <a:r>
              <a:t>Margin Recovery</a:t>
            </a:r>
          </a:p>
          <a:p>
            <a:pPr>
              <a:spcAft>
                <a:spcPts val="1200"/>
              </a:spcAft>
              <a:defRPr sz="1300">
                <a:solidFill>
                  <a:srgbClr val="3C3C3C"/>
                </a:solidFill>
              </a:defRPr>
            </a:pPr>
            <a:r>
              <a:t>Can Target restore operating margins to 5%+ without sacrificing market share?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303520"/>
            <a:ext cx="8229600" cy="1188720"/>
          </a:xfrm>
          <a:prstGeom prst="rect">
            <a:avLst/>
          </a:prstGeom>
          <a:solidFill>
            <a:srgbClr val="FFF0F0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CC0000"/>
                </a:solidFill>
              </a:defRPr>
            </a:pPr>
            <a:r>
              <a:t>Bottom Line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Balanced risk/opportunity profile with execution uncertainty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1828800"/>
          </a:xfrm>
          <a:prstGeom prst="rect">
            <a:avLst/>
          </a:prstGeom>
          <a:solidFill>
            <a:srgbClr val="505050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Supporting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46464"/>
                </a:solidFill>
              </a:defRPr>
            </a:pPr>
            <a:r>
              <a:t>18 additional charts for detailed analysis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Revenue &amp; Net Income (10-Year)</a:t>
            </a:r>
          </a:p>
        </p:txBody>
      </p:sp>
      <p:pic>
        <p:nvPicPr>
          <p:cNvPr id="3" name="Picture 2" descr="chart_revenue_netincome_ann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Revenue Growth YoY</a:t>
            </a:r>
          </a:p>
        </p:txBody>
      </p:sp>
      <p:pic>
        <p:nvPicPr>
          <p:cNvPr id="3" name="Picture 2" descr="chart_revenue_growth_yo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Revenue &amp; Net Income (Quarterly)</a:t>
            </a:r>
          </a:p>
        </p:txBody>
      </p:sp>
      <p:pic>
        <p:nvPicPr>
          <p:cNvPr id="3" name="Picture 2" descr="chart_revenue_netincome_longte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Margin Bridge Waterfall</a:t>
            </a:r>
          </a:p>
        </p:txBody>
      </p:sp>
      <p:pic>
        <p:nvPicPr>
          <p:cNvPr id="3" name="Picture 2" descr="chart_margin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Operating Expense Breakdown</a:t>
            </a:r>
          </a:p>
        </p:txBody>
      </p:sp>
      <p:pic>
        <p:nvPicPr>
          <p:cNvPr id="3" name="Picture 2" descr="chart_expens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EBITDA Bridge</a:t>
            </a:r>
          </a:p>
        </p:txBody>
      </p:sp>
      <p:pic>
        <p:nvPicPr>
          <p:cNvPr id="3" name="Picture 2" descr="chart_ebitd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Operating Margin Waterfall</a:t>
            </a:r>
          </a:p>
        </p:txBody>
      </p:sp>
      <p:pic>
        <p:nvPicPr>
          <p:cNvPr id="3" name="Picture 2" descr="chart_operating_margin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Earnings Quality</a:t>
            </a:r>
          </a:p>
        </p:txBody>
      </p:sp>
      <p:pic>
        <p:nvPicPr>
          <p:cNvPr id="3" name="Picture 2" descr="chart_earnings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Current Ratio Gauge</a:t>
            </a:r>
          </a:p>
        </p:txBody>
      </p:sp>
      <p:pic>
        <p:nvPicPr>
          <p:cNvPr id="3" name="Picture 2" descr="chart_current_ratio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Capital Structure</a:t>
            </a:r>
          </a:p>
        </p:txBody>
      </p:sp>
      <p:pic>
        <p:nvPicPr>
          <p:cNvPr id="3" name="Picture 2" descr="chart_capital_structure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Debt-to-EBITDA Trend</a:t>
            </a:r>
          </a:p>
        </p:txBody>
      </p:sp>
      <p:pic>
        <p:nvPicPr>
          <p:cNvPr id="3" name="Picture 2" descr="chart_debt_to_ebitd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Statement of Cash Flows</a:t>
            </a:r>
          </a:p>
        </p:txBody>
      </p:sp>
      <p:pic>
        <p:nvPicPr>
          <p:cNvPr id="3" name="Picture 2" descr="chart_cash_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DuPont Analysis</a:t>
            </a:r>
          </a:p>
        </p:txBody>
      </p:sp>
      <p:pic>
        <p:nvPicPr>
          <p:cNvPr id="3" name="Picture 2" descr="chart_dupont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Cash Conversion Cycle</a:t>
            </a:r>
          </a:p>
        </p:txBody>
      </p:sp>
      <p:pic>
        <p:nvPicPr>
          <p:cNvPr id="3" name="Picture 2" descr="chart_cash_conversion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OCF vs CapEx</a:t>
            </a:r>
          </a:p>
        </p:txBody>
      </p:sp>
      <p:pic>
        <p:nvPicPr>
          <p:cNvPr id="3" name="Picture 2" descr="chart_ocf_vs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Historical P/E Band</a:t>
            </a:r>
          </a:p>
        </p:txBody>
      </p:sp>
      <p:pic>
        <p:nvPicPr>
          <p:cNvPr id="3" name="Picture 2" descr="chart_pe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Cash Flow Sankey</a:t>
            </a:r>
          </a:p>
        </p:txBody>
      </p:sp>
      <p:pic>
        <p:nvPicPr>
          <p:cNvPr id="3" name="Picture 2" descr="chart_cash_flow_san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05050"/>
                </a:solidFill>
              </a:defRPr>
            </a:pPr>
            <a:r>
              <a:t>Risk Trends</a:t>
            </a:r>
          </a:p>
        </p:txBody>
      </p:sp>
      <p:pic>
        <p:nvPicPr>
          <p:cNvPr id="3" name="Picture 2" descr="chart_risk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82296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u="sng">
                <a:solidFill>
                  <a:srgbClr val="0066CC"/>
                </a:solidFill>
                <a:hlinkClick r:id="rId3"/>
              </a:rPr>
              <a:t>Click for interactive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