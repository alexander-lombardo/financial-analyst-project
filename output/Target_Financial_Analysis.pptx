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08080"/>
                </a:solidFill>
              </a:defRPr>
            </a:pPr>
            <a:r>
              <a:t>5 Pillars of Financial Analysis | 24 Interactive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Data: FY2015 -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   Net Sales: $26.12B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3.91%</a:t>
            </a:r>
          </a:p>
          <a:p>
            <a:pPr>
              <a:spcAft>
                <a:spcPts val="300"/>
              </a:spcAft>
              <a:defRPr sz="1400"/>
            </a:pPr>
            <a:r>
              <a:t>   Gross Margin: 24.66%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Latest Quarter Highlights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3.75%</a:t>
            </a:r>
          </a:p>
          <a:p>
            <a:pPr>
              <a:spcAft>
                <a:spcPts val="300"/>
              </a:spcAft>
              <a:defRPr sz="1400"/>
            </a:pPr>
            <a:r>
              <a:t>   Inventory: $14.90B</a:t>
            </a:r>
          </a:p>
          <a:p>
            <a:pPr>
              <a:spcAft>
                <a:spcPts val="300"/>
              </a:spcAft>
              <a:defRPr sz="1400"/>
            </a:pPr>
            <a:r>
              <a:t>   See pillar charts for detailed trends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5 Pillars Covered</a:t>
            </a:r>
          </a:p>
          <a:p>
            <a:pPr>
              <a:spcAft>
                <a:spcPts val="300"/>
              </a:spcAft>
              <a:defRPr sz="1400"/>
            </a:pPr>
            <a:r>
              <a:t>   1. Growth &amp; Revenue - 4 charts</a:t>
            </a:r>
          </a:p>
          <a:p>
            <a:pPr>
              <a:spcAft>
                <a:spcPts val="300"/>
              </a:spcAft>
              <a:defRPr sz="1400"/>
            </a:pPr>
            <a:r>
              <a:t>   2. Profitability &amp; Margins - 6 charts</a:t>
            </a:r>
          </a:p>
          <a:p>
            <a:pPr>
              <a:spcAft>
                <a:spcPts val="300"/>
              </a:spcAft>
              <a:defRPr sz="1400"/>
            </a:pPr>
            <a:r>
              <a:t>   3. Liquidity &amp; Solvency - 5 charts</a:t>
            </a:r>
          </a:p>
          <a:p>
            <a:pPr>
              <a:spcAft>
                <a:spcPts val="300"/>
              </a:spcAft>
              <a:defRPr sz="1400"/>
            </a:pPr>
            <a:r>
              <a:t>   4. Operational Efficiency - 4 charts</a:t>
            </a:r>
          </a:p>
          <a:p>
            <a:pPr>
              <a:spcAft>
                <a:spcPts val="300"/>
              </a:spcAft>
              <a:defRPr sz="1400"/>
            </a:pPr>
            <a:r>
              <a:t>   5. Valuation &amp; Risk - 5 charts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Balanced risk/opportunity profile with execution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Risk Factors</a:t>
            </a:r>
          </a:p>
          <a:p>
            <a:pPr>
              <a:defRPr sz="1400" b="1"/>
            </a:pPr>
            <a:r>
              <a:t>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Opportunities</a:t>
            </a:r>
          </a:p>
          <a:p>
            <a:pPr>
              <a:defRPr sz="1400" b="1"/>
            </a:pPr>
            <a:r>
              <a:t>Digital Sales Growth (High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up 2.4% in latest quarter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&amp;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is the business growing?"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(10-Year)</a:t>
            </a:r>
          </a:p>
        </p:txBody>
      </p:sp>
      <p:pic>
        <p:nvPicPr>
          <p:cNvPr id="3" name="Picture 2" descr="chart_revenue_netincome_an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Target's 10-year revenue and net income trajectory from annual 10-K filings. Look for consistent growth and whether profits keep pace with revenue.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Growth YoY</a:t>
            </a:r>
          </a:p>
        </p:txBody>
      </p:sp>
      <p:pic>
        <p:nvPicPr>
          <p:cNvPr id="3" name="Picture 2" descr="chart_revenue_growth_y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Tracks year-over-year revenue growth rates by quarter. Reveals acceleration or deceleration in growth momentum.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vs Inventory Growth</a:t>
            </a:r>
          </a:p>
        </p:txBody>
      </p:sp>
      <p:pic>
        <p:nvPicPr>
          <p:cNvPr id="3" name="Picture 2" descr="chart_revenue_vs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Compares revenue growth to inventory buildup. Inventory growing faster than sales signals potential markdown risk.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(Quarterly)</a:t>
            </a:r>
          </a:p>
        </p:txBody>
      </p:sp>
      <p:pic>
        <p:nvPicPr>
          <p:cNvPr id="3" name="Picture 2" descr="chart_revenue_netincome_longt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Quarterly view with calculated Q4 data showing seasonal patterns. Q4 (holiday season) typically shows peak revenue.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Profitability &amp; Margins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efficiently is the company generating profits?"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Analysis (Gross/Operating/Net)</a:t>
            </a:r>
          </a:p>
        </p:txBody>
      </p:sp>
      <p:pic>
        <p:nvPicPr>
          <p:cNvPr id="3" name="Picture 2" descr="chart_margi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Three margin lines tracking profitability over time. Compression between lines reveals where profits leak.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Bridge Waterfall</a:t>
            </a:r>
          </a:p>
        </p:txBody>
      </p:sp>
      <p:pic>
        <p:nvPicPr>
          <p:cNvPr id="3" name="Picture 2" descr="chart_margin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Waterfall showing margin evolution from FY2022 baseline. Green bars = improvement, red bars = deterioration.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Expense Breakdown</a:t>
            </a:r>
          </a:p>
        </p:txBody>
      </p:sp>
      <p:pic>
        <p:nvPicPr>
          <p:cNvPr id="3" name="Picture 2" descr="chart_expense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100% stacked bars showing cost structure. Watch for SG&amp;A creep eating into margins.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EBITDA Bridge</a:t>
            </a:r>
          </a:p>
        </p:txBody>
      </p:sp>
      <p:pic>
        <p:nvPicPr>
          <p:cNvPr id="3" name="Picture 2" descr="chart_ebitda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how revenue flows to EBITDA through operating expenses. The D&amp;A add-back reveals capital intensity.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Margin Waterfall</a:t>
            </a:r>
          </a:p>
        </p:txBody>
      </p:sp>
      <p:pic>
        <p:nvPicPr>
          <p:cNvPr id="3" name="Picture 2" descr="chart_operating_margin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Quarterly margin changes as waterfall. Identifies seasonal patterns and pressure points.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Earnings Quality</a:t>
            </a:r>
          </a:p>
        </p:txBody>
      </p:sp>
      <p:pic>
        <p:nvPicPr>
          <p:cNvPr id="3" name="Picture 2" descr="chart_earnings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Compares Net Income to Operating Cash Flow. High-quality earnings convert to cash consistently.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Liquidity &amp; Solvency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the company pay its bills today and debts in the future?"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Current Ratio Gauge</a:t>
            </a:r>
          </a:p>
        </p:txBody>
      </p:sp>
      <p:pic>
        <p:nvPicPr>
          <p:cNvPr id="3" name="Picture 2" descr="chart_current_ratio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Measures short-term liquidity. Below 1.0 is warning (liabilities exceed assets); above 1.5 is healthy for retail.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Capital Structure</a:t>
            </a:r>
          </a:p>
        </p:txBody>
      </p:sp>
      <p:pic>
        <p:nvPicPr>
          <p:cNvPr id="3" name="Picture 2" descr="chart_capital_structur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Shows debt vs equity mix. Higher debt = higher risk but potentially higher returns on equity.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Debt-to-EBITDA Trend</a:t>
            </a:r>
          </a:p>
        </p:txBody>
      </p:sp>
      <p:pic>
        <p:nvPicPr>
          <p:cNvPr id="3" name="Picture 2" descr="chart_debt_to_ebitda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Key leverage metric showing how many years of earnings to repay debt. Below 3x is healthy; above 5x is risky.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 Health (Interest Coverage)</a:t>
            </a:r>
          </a:p>
        </p:txBody>
      </p:sp>
      <p:pic>
        <p:nvPicPr>
          <p:cNvPr id="3" name="Picture 2" descr="chart_debt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Interest coverage ratio tracking. Above 3x is comfortable; below 2x requires monitoring.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Statement of Cash Flows</a:t>
            </a:r>
          </a:p>
        </p:txBody>
      </p:sp>
      <p:pic>
        <p:nvPicPr>
          <p:cNvPr id="3" name="Picture 2" descr="chart_cash_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Three cash flow lines: Operating, Investing, Financing. Operating should be consistently positive.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well is the company using its assets?"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DuPont Analysis</a:t>
            </a:r>
          </a:p>
        </p:txBody>
      </p:sp>
      <p:pic>
        <p:nvPicPr>
          <p:cNvPr id="3" name="Picture 2" descr="chart_dupon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Decomposes ROE into Profit Margin x Asset Turnover x Financial Leverage. Shows what drives returns.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Inventory Efficiency</a:t>
            </a:r>
          </a:p>
        </p:txBody>
      </p:sp>
      <p:pic>
        <p:nvPicPr>
          <p:cNvPr id="3" name="Picture 2" descr="chart_inventory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Tracks turnover ratio and days on hand. Faster turns = less capital tied up in inventory.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Conversion Cycle</a:t>
            </a:r>
          </a:p>
        </p:txBody>
      </p:sp>
      <p:pic>
        <p:nvPicPr>
          <p:cNvPr id="3" name="Picture 2" descr="chart_cash_conversion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Days to convert inventory to cash vs retail peers. Lower is better; negative means suppliers finance operations.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OCF vs CapEx</a:t>
            </a:r>
          </a:p>
        </p:txBody>
      </p:sp>
      <p:pic>
        <p:nvPicPr>
          <p:cNvPr id="3" name="Picture 2" descr="chart_ocf_vs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Operating cash vs capital spending. The gap between them is Free Cash Flow available for shareholders.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Valuation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"Is the stock fairly priced, and what are the risks?"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Valuation vs Growth</a:t>
            </a:r>
          </a:p>
        </p:txBody>
      </p:sp>
      <p:pic>
        <p:nvPicPr>
          <p:cNvPr id="3" name="Picture 2" descr="chart_valu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P/E ratio vs revenue growth for Target and peers. Lower-right quadrant = undervalued opportunities.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Historical P/E Band</a:t>
            </a:r>
          </a:p>
        </p:txBody>
      </p:sp>
      <p:pic>
        <p:nvPicPr>
          <p:cNvPr id="3" name="Picture 2" descr="chart_pe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Current price vs historical valuation range. Below 25th percentile = historically undervalued.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Flow Sankey</a:t>
            </a:r>
          </a:p>
        </p:txBody>
      </p:sp>
      <p:pic>
        <p:nvPicPr>
          <p:cNvPr id="3" name="Picture 2" descr="chart_cash_flow_sa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Visualizes cash allocation: CapEx, dividends, buybacks, debt repayment. Shows management priorities.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Trends</a:t>
            </a:r>
          </a:p>
        </p:txBody>
      </p:sp>
      <p:pic>
        <p:nvPicPr>
          <p:cNvPr id="3" name="Picture 2" descr="chart_risk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Stacked area of risk mentions (shrink, theft, markdown) over time. Rising trends signal increasing concerns.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Heatmap</a:t>
            </a:r>
          </a:p>
        </p:txBody>
      </p:sp>
      <p:pic>
        <p:nvPicPr>
          <p:cNvPr id="3" name="Picture 2" descr="chart_risk_heatmap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Intensity grid showing risk types by period. Dark cells = high concern in that area.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