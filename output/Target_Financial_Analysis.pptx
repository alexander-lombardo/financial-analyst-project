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/Users/alex/Documents/dev/financial-analyst-project/output/chart_revenue_netincome_annual.html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/Users/alex/Documents/dev/financial-analyst-project/output/chart_revenue_growth_yoy.html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hyperlink" Target="/Users/alex/Documents/dev/financial-analyst-project/output/chart_revenue_vs_inventory.html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hyperlink" Target="/Users/alex/Documents/dev/financial-analyst-project/output/chart_revenue_netincome_longterm.html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hyperlink" Target="/Users/alex/Documents/dev/financial-analyst-project/output/chart_margin_analysis.html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hyperlink" Target="/Users/alex/Documents/dev/financial-analyst-project/output/chart_margin_bridge.html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hyperlink" Target="/Users/alex/Documents/dev/financial-analyst-project/output/chart_expense_breakdown.html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hyperlink" Target="/Users/alex/Documents/dev/financial-analyst-project/output/chart_ebitda_bridge.html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hyperlink" Target="/Users/alex/Documents/dev/financial-analyst-project/output/chart_operating_margin_waterfall.html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hyperlink" Target="/Users/alex/Documents/dev/financial-analyst-project/output/chart_earnings_quality.html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hyperlink" Target="/Users/alex/Documents/dev/financial-analyst-project/output/chart_current_ratio_gauge.html" TargetMode="Externa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hyperlink" Target="/Users/alex/Documents/dev/financial-analyst-project/output/chart_capital_structure_donut.html" TargetMode="Externa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hyperlink" Target="/Users/alex/Documents/dev/financial-analyst-project/output/chart_debt_to_ebitda_trend.html" TargetMode="Externa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hyperlink" Target="/Users/alex/Documents/dev/financial-analyst-project/output/chart_debt_health.html" TargetMode="Externa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hyperlink" Target="/Users/alex/Documents/dev/financial-analyst-project/output/chart_cash_flows.html" TargetMode="Externa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hyperlink" Target="/Users/alex/Documents/dev/financial-analyst-project/output/chart_dupont_analysis.html" TargetMode="Externa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hyperlink" Target="/Users/alex/Documents/dev/financial-analyst-project/output/chart_inventory_efficiency.html" TargetMode="Externa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hyperlink" Target="/Users/alex/Documents/dev/financial-analyst-project/output/chart_cash_conversion_cycle.html" TargetMode="Externa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hyperlink" Target="/Users/alex/Documents/dev/financial-analyst-project/output/chart_ocf_vs_capex.html" TargetMode="Externa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hyperlink" Target="/Users/alex/Documents/dev/financial-analyst-project/output/chart_valuation_scatter.html" TargetMode="Externa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hyperlink" Target="/Users/alex/Documents/dev/financial-analyst-project/output/chart_pe_band.html" TargetMode="Externa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hyperlink" Target="/Users/alex/Documents/dev/financial-analyst-project/output/chart_cash_flow_sankey.html" TargetMode="Externa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hyperlink" Target="/Users/alex/Documents/dev/financial-analyst-project/output/chart_risk_trends.html" TargetMode="Externa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hyperlink" Target="/Users/alex/Documents/dev/financial-analyst-project/output/chart_risk_heatmap_grid.html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CC0000"/>
                </a:solidFill>
              </a:defRPr>
            </a:pPr>
            <a:r>
              <a:t>Target Corporation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/>
            </a:pPr>
            <a:r>
              <a:t>Financial Analysis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808080"/>
                </a:solidFill>
              </a:defRPr>
            </a:pPr>
            <a:r>
              <a:t>5 Pillars of Financial Analysis | 24 Interactive Charts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969696"/>
                </a:solidFill>
              </a:defRPr>
            </a:pPr>
            <a:r>
              <a:t>Data: FY2015 - Q3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C0000"/>
                </a:solidFill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800" b="1">
                <a:solidFill>
                  <a:srgbClr val="CC0000"/>
                </a:solidFill>
              </a:defRPr>
            </a:pPr>
            <a:r>
              <a:t>FY2024 Baseline Performance</a:t>
            </a:r>
          </a:p>
          <a:p>
            <a:pPr>
              <a:spcAft>
                <a:spcPts val="300"/>
              </a:spcAft>
              <a:defRPr sz="1400"/>
            </a:pPr>
            <a:r>
              <a:t>   Net Sales: $26.12B</a:t>
            </a:r>
          </a:p>
          <a:p>
            <a:pPr>
              <a:spcAft>
                <a:spcPts val="300"/>
              </a:spcAft>
              <a:defRPr sz="1400"/>
            </a:pPr>
            <a:r>
              <a:t>   Operating Margin: 3.91%</a:t>
            </a:r>
          </a:p>
          <a:p>
            <a:pPr>
              <a:spcAft>
                <a:spcPts val="300"/>
              </a:spcAft>
              <a:defRPr sz="1400"/>
            </a:pPr>
            <a:r>
              <a:t>   Gross Margin: 24.66%</a:t>
            </a:r>
          </a:p>
          <a:p>
            <a:pPr>
              <a:spcAft>
                <a:spcPts val="1200"/>
              </a:spcAft>
            </a:pPr>
          </a:p>
          <a:p>
            <a:pPr>
              <a:spcAft>
                <a:spcPts val="600"/>
              </a:spcAft>
              <a:defRPr sz="1800" b="1">
                <a:solidFill>
                  <a:srgbClr val="CC0000"/>
                </a:solidFill>
              </a:defRPr>
            </a:pPr>
            <a:r>
              <a:t>Latest Quarter Highlights</a:t>
            </a:r>
          </a:p>
          <a:p>
            <a:pPr>
              <a:spcAft>
                <a:spcPts val="300"/>
              </a:spcAft>
              <a:defRPr sz="1400"/>
            </a:pPr>
            <a:r>
              <a:t>   Operating Margin: 3.75%</a:t>
            </a:r>
          </a:p>
          <a:p>
            <a:pPr>
              <a:spcAft>
                <a:spcPts val="300"/>
              </a:spcAft>
              <a:defRPr sz="1400"/>
            </a:pPr>
            <a:r>
              <a:t>   Inventory: $14.90B</a:t>
            </a:r>
          </a:p>
          <a:p>
            <a:pPr>
              <a:spcAft>
                <a:spcPts val="300"/>
              </a:spcAft>
              <a:defRPr sz="1400"/>
            </a:pPr>
            <a:r>
              <a:t>   See pillar charts for detailed trends</a:t>
            </a:r>
          </a:p>
          <a:p>
            <a:pPr>
              <a:spcAft>
                <a:spcPts val="1200"/>
              </a:spcAft>
            </a:pPr>
          </a:p>
          <a:p>
            <a:pPr>
              <a:spcAft>
                <a:spcPts val="600"/>
              </a:spcAft>
              <a:defRPr sz="1800" b="1">
                <a:solidFill>
                  <a:srgbClr val="CC0000"/>
                </a:solidFill>
              </a:defRPr>
            </a:pPr>
            <a:r>
              <a:t>5 Pillars Covered</a:t>
            </a:r>
          </a:p>
          <a:p>
            <a:pPr>
              <a:spcAft>
                <a:spcPts val="300"/>
              </a:spcAft>
              <a:defRPr sz="1400"/>
            </a:pPr>
            <a:r>
              <a:t>   1. Growth &amp; Revenue - 4 charts</a:t>
            </a:r>
          </a:p>
          <a:p>
            <a:pPr>
              <a:spcAft>
                <a:spcPts val="300"/>
              </a:spcAft>
              <a:defRPr sz="1400"/>
            </a:pPr>
            <a:r>
              <a:t>   2. Profitability &amp; Margins - 6 charts</a:t>
            </a:r>
          </a:p>
          <a:p>
            <a:pPr>
              <a:spcAft>
                <a:spcPts val="300"/>
              </a:spcAft>
              <a:defRPr sz="1400"/>
            </a:pPr>
            <a:r>
              <a:t>   3. Liquidity &amp; Solvency - 5 charts</a:t>
            </a:r>
          </a:p>
          <a:p>
            <a:pPr>
              <a:spcAft>
                <a:spcPts val="300"/>
              </a:spcAft>
              <a:defRPr sz="1400"/>
            </a:pPr>
            <a:r>
              <a:t>   4. Operational Efficiency - 4 charts</a:t>
            </a:r>
          </a:p>
          <a:p>
            <a:pPr>
              <a:spcAft>
                <a:spcPts val="300"/>
              </a:spcAft>
              <a:defRPr sz="1400"/>
            </a:pPr>
            <a:r>
              <a:t>   5. Valuation &amp; Risk - 5 charts</a:t>
            </a:r>
          </a:p>
          <a:p>
            <a:pPr>
              <a:spcAft>
                <a:spcPts val="1200"/>
              </a:spcAft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C0000"/>
                </a:solidFill>
              </a:defRPr>
            </a:pPr>
            <a:r>
              <a:t>Investment 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8C00"/>
                </a:solidFill>
              </a:defRPr>
            </a:pPr>
            <a:r>
              <a:t>Recommendation: Hold</a:t>
            </a:r>
          </a:p>
          <a:p>
            <a:pPr>
              <a:spcAft>
                <a:spcPts val="600"/>
              </a:spcAft>
              <a:defRPr sz="1600"/>
            </a:pPr>
            <a:r>
              <a:t>Balanced risk/opportunity profile with execution uncertainty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3886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 b="1"/>
            </a:pPr>
            <a:r>
              <a:t>Risk Factors</a:t>
            </a:r>
          </a:p>
          <a:p>
            <a:pPr>
              <a:defRPr sz="1400" b="1"/>
            </a:pPr>
            <a:r>
              <a:t>Shrink/Theft (High)</a:t>
            </a:r>
          </a:p>
          <a:p>
            <a:pPr lvl="1">
              <a:spcAft>
                <a:spcPts val="600"/>
              </a:spcAft>
              <a:defRPr sz="1200"/>
            </a:pPr>
            <a:r>
              <a:t>22 mentions across 8 periods, avg 2.8/period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00600" y="2286000"/>
            <a:ext cx="3886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 b="1"/>
            </a:pPr>
            <a:r>
              <a:t>Opportunities</a:t>
            </a:r>
          </a:p>
          <a:p>
            <a:pPr>
              <a:defRPr sz="1400" b="1"/>
            </a:pPr>
            <a:r>
              <a:t>Digital Sales Growth (High potential)</a:t>
            </a:r>
          </a:p>
          <a:p>
            <a:pPr lvl="1">
              <a:spcAft>
                <a:spcPts val="600"/>
              </a:spcAft>
              <a:defRPr sz="1200"/>
            </a:pPr>
            <a:r>
              <a:t>Digital comp sales up 2.4% in latest quarter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9144000" cy="1828800"/>
          </a:xfrm>
          <a:prstGeom prst="rect">
            <a:avLst/>
          </a:prstGeom>
          <a:solidFill>
            <a:srgbClr val="CC0000"/>
          </a:solidFill>
          <a:ln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PILLAR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017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Growth &amp; Revenue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i="1">
                <a:solidFill>
                  <a:srgbClr val="646464"/>
                </a:solidFill>
              </a:defRPr>
            </a:pPr>
            <a:r>
              <a:t>"How is the business growing?"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CC0000"/>
                </a:solidFill>
              </a:defRPr>
            </a:pPr>
            <a:r>
              <a:t>Revenue &amp; Net Income (10-Year)</a:t>
            </a:r>
          </a:p>
        </p:txBody>
      </p:sp>
      <p:pic>
        <p:nvPicPr>
          <p:cNvPr id="3" name="Picture 2" descr="chart_revenue_netincome_ann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0"/>
            <a:ext cx="82296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029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Shows Target's 10-year revenue and net income trajectory from annual 10-K filings. Look for consistent growth and whether profits keep pace with revenue.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0350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u="sng">
                <a:solidFill>
                  <a:srgbClr val="0066CC"/>
                </a:solidFill>
                <a:hlinkClick r:id="rId3"/>
              </a:rPr>
              <a:t>📊 Click for interactive version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CC0000"/>
                </a:solidFill>
              </a:defRPr>
            </a:pPr>
            <a:r>
              <a:t>Revenue Growth YoY</a:t>
            </a:r>
          </a:p>
        </p:txBody>
      </p:sp>
      <p:pic>
        <p:nvPicPr>
          <p:cNvPr id="3" name="Picture 2" descr="chart_revenue_growth_yo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0"/>
            <a:ext cx="82296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029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Tracks year-over-year revenue growth rates by quarter. Reveals acceleration or deceleration in growth momentum.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0350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u="sng">
                <a:solidFill>
                  <a:srgbClr val="0066CC"/>
                </a:solidFill>
                <a:hlinkClick r:id="rId3"/>
              </a:rPr>
              <a:t>📊 Click for interactive version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CC0000"/>
                </a:solidFill>
              </a:defRPr>
            </a:pPr>
            <a:r>
              <a:t>Revenue vs Inventory Growth</a:t>
            </a:r>
          </a:p>
        </p:txBody>
      </p:sp>
      <p:pic>
        <p:nvPicPr>
          <p:cNvPr id="3" name="Picture 2" descr="chart_revenue_vs_inven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0"/>
            <a:ext cx="82296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029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Compares revenue growth to inventory buildup. Inventory growing faster than sales signals potential markdown risk.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0350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u="sng">
                <a:solidFill>
                  <a:srgbClr val="0066CC"/>
                </a:solidFill>
                <a:hlinkClick r:id="rId3"/>
              </a:rPr>
              <a:t>📊 Click for interactive version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CC0000"/>
                </a:solidFill>
              </a:defRPr>
            </a:pPr>
            <a:r>
              <a:t>Revenue &amp; Net Income (Quarterly)</a:t>
            </a:r>
          </a:p>
        </p:txBody>
      </p:sp>
      <p:pic>
        <p:nvPicPr>
          <p:cNvPr id="3" name="Picture 2" descr="chart_revenue_netincome_longte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0"/>
            <a:ext cx="82296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029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Quarterly view with calculated Q4 data showing seasonal patterns. Q4 (holiday season) typically shows peak revenue.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0350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u="sng">
                <a:solidFill>
                  <a:srgbClr val="0066CC"/>
                </a:solidFill>
                <a:hlinkClick r:id="rId3"/>
              </a:rPr>
              <a:t>📊 Click for interactive version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9144000" cy="1828800"/>
          </a:xfrm>
          <a:prstGeom prst="rect">
            <a:avLst/>
          </a:prstGeom>
          <a:solidFill>
            <a:srgbClr val="CC0000"/>
          </a:solidFill>
          <a:ln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PILLAR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017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Profitability &amp; Margins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i="1">
                <a:solidFill>
                  <a:srgbClr val="646464"/>
                </a:solidFill>
              </a:defRPr>
            </a:pPr>
            <a:r>
              <a:t>"How efficiently is the company generating profits?"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CC0000"/>
                </a:solidFill>
              </a:defRPr>
            </a:pPr>
            <a:r>
              <a:t>Margin Analysis (Gross/Operating/Net)</a:t>
            </a:r>
          </a:p>
        </p:txBody>
      </p:sp>
      <p:pic>
        <p:nvPicPr>
          <p:cNvPr id="3" name="Picture 2" descr="chart_margin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0"/>
            <a:ext cx="82296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029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Three margin lines tracking profitability over time. Compression between lines reveals where profits leak.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0350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u="sng">
                <a:solidFill>
                  <a:srgbClr val="0066CC"/>
                </a:solidFill>
                <a:hlinkClick r:id="rId3"/>
              </a:rPr>
              <a:t>📊 Click for interactive version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CC0000"/>
                </a:solidFill>
              </a:defRPr>
            </a:pPr>
            <a:r>
              <a:t>Margin Bridge Waterfall</a:t>
            </a:r>
          </a:p>
        </p:txBody>
      </p:sp>
      <p:pic>
        <p:nvPicPr>
          <p:cNvPr id="3" name="Picture 2" descr="chart_margin_bri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0"/>
            <a:ext cx="82296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029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Waterfall showing margin evolution from FY2022 baseline. Green bars = improvement, red bars = deterioration.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0350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u="sng">
                <a:solidFill>
                  <a:srgbClr val="0066CC"/>
                </a:solidFill>
                <a:hlinkClick r:id="rId3"/>
              </a:rPr>
              <a:t>📊 Click for interactive version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CC0000"/>
                </a:solidFill>
              </a:defRPr>
            </a:pPr>
            <a:r>
              <a:t>Operating Expense Breakdown</a:t>
            </a:r>
          </a:p>
        </p:txBody>
      </p:sp>
      <p:pic>
        <p:nvPicPr>
          <p:cNvPr id="3" name="Picture 2" descr="chart_expense_break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0"/>
            <a:ext cx="82296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029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100% stacked bars showing cost structure. Watch for SG&amp;A creep eating into margins.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0350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u="sng">
                <a:solidFill>
                  <a:srgbClr val="0066CC"/>
                </a:solidFill>
                <a:hlinkClick r:id="rId3"/>
              </a:rPr>
              <a:t>📊 Click for interactive version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CC0000"/>
                </a:solidFill>
              </a:defRPr>
            </a:pPr>
            <a:r>
              <a:t>EBITDA Bridge</a:t>
            </a:r>
          </a:p>
        </p:txBody>
      </p:sp>
      <p:pic>
        <p:nvPicPr>
          <p:cNvPr id="3" name="Picture 2" descr="chart_ebitda_bri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0"/>
            <a:ext cx="82296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029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Shows how revenue flows to EBITDA through operating expenses. The D&amp;A add-back reveals capital intensity.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0350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u="sng">
                <a:solidFill>
                  <a:srgbClr val="0066CC"/>
                </a:solidFill>
                <a:hlinkClick r:id="rId3"/>
              </a:rPr>
              <a:t>📊 Click for interactive version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CC0000"/>
                </a:solidFill>
              </a:defRPr>
            </a:pPr>
            <a:r>
              <a:t>Operating Margin Waterfall</a:t>
            </a:r>
          </a:p>
        </p:txBody>
      </p:sp>
      <p:pic>
        <p:nvPicPr>
          <p:cNvPr id="3" name="Picture 2" descr="chart_operating_margin_waterf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0"/>
            <a:ext cx="82296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029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Quarterly margin changes as waterfall. Identifies seasonal patterns and pressure points.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0350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u="sng">
                <a:solidFill>
                  <a:srgbClr val="0066CC"/>
                </a:solidFill>
                <a:hlinkClick r:id="rId3"/>
              </a:rPr>
              <a:t>📊 Click for interactive version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CC0000"/>
                </a:solidFill>
              </a:defRPr>
            </a:pPr>
            <a:r>
              <a:t>Earnings Quality</a:t>
            </a:r>
          </a:p>
        </p:txBody>
      </p:sp>
      <p:pic>
        <p:nvPicPr>
          <p:cNvPr id="3" name="Picture 2" descr="chart_earnings_qu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0"/>
            <a:ext cx="82296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029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Compares Net Income to Operating Cash Flow. High-quality earnings convert to cash consistently.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0350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u="sng">
                <a:solidFill>
                  <a:srgbClr val="0066CC"/>
                </a:solidFill>
                <a:hlinkClick r:id="rId3"/>
              </a:rPr>
              <a:t>📊 Click for interactive version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9144000" cy="1828800"/>
          </a:xfrm>
          <a:prstGeom prst="rect">
            <a:avLst/>
          </a:prstGeom>
          <a:solidFill>
            <a:srgbClr val="CC0000"/>
          </a:solidFill>
          <a:ln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PILLAR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017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Liquidity &amp; Solvency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i="1">
                <a:solidFill>
                  <a:srgbClr val="646464"/>
                </a:solidFill>
              </a:defRPr>
            </a:pPr>
            <a:r>
              <a:t>"Can the company pay its bills today and debts in the future?"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CC0000"/>
                </a:solidFill>
              </a:defRPr>
            </a:pPr>
            <a:r>
              <a:t>Current Ratio Gauge</a:t>
            </a:r>
          </a:p>
        </p:txBody>
      </p:sp>
      <p:pic>
        <p:nvPicPr>
          <p:cNvPr id="3" name="Picture 2" descr="chart_current_ratio_gau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0"/>
            <a:ext cx="82296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029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Measures short-term liquidity. Below 1.0 is warning (liabilities exceed assets); above 1.5 is healthy for retail.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0350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u="sng">
                <a:solidFill>
                  <a:srgbClr val="0066CC"/>
                </a:solidFill>
                <a:hlinkClick r:id="rId3"/>
              </a:rPr>
              <a:t>📊 Click for interactive version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CC0000"/>
                </a:solidFill>
              </a:defRPr>
            </a:pPr>
            <a:r>
              <a:t>Capital Structure</a:t>
            </a:r>
          </a:p>
        </p:txBody>
      </p:sp>
      <p:pic>
        <p:nvPicPr>
          <p:cNvPr id="3" name="Picture 2" descr="chart_capital_structure_don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0"/>
            <a:ext cx="82296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029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Shows debt vs equity mix. Higher debt = higher risk but potentially higher returns on equity.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0350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u="sng">
                <a:solidFill>
                  <a:srgbClr val="0066CC"/>
                </a:solidFill>
                <a:hlinkClick r:id="rId3"/>
              </a:rPr>
              <a:t>📊 Click for interactive version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CC0000"/>
                </a:solidFill>
              </a:defRPr>
            </a:pPr>
            <a:r>
              <a:t>Debt-to-EBITDA Trend</a:t>
            </a:r>
          </a:p>
        </p:txBody>
      </p:sp>
      <p:pic>
        <p:nvPicPr>
          <p:cNvPr id="3" name="Picture 2" descr="chart_debt_to_ebitda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0"/>
            <a:ext cx="82296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029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Key leverage metric showing how many years of earnings to repay debt. Below 3x is healthy; above 5x is risky.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0350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u="sng">
                <a:solidFill>
                  <a:srgbClr val="0066CC"/>
                </a:solidFill>
                <a:hlinkClick r:id="rId3"/>
              </a:rPr>
              <a:t>📊 Click for interactive version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CC0000"/>
                </a:solidFill>
              </a:defRPr>
            </a:pPr>
            <a:r>
              <a:t>Debt Health (Interest Coverage)</a:t>
            </a:r>
          </a:p>
        </p:txBody>
      </p:sp>
      <p:pic>
        <p:nvPicPr>
          <p:cNvPr id="3" name="Picture 2" descr="chart_debt_heal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0"/>
            <a:ext cx="82296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029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Interest coverage ratio tracking. Above 3x is comfortable; below 2x requires monitoring.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0350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u="sng">
                <a:solidFill>
                  <a:srgbClr val="0066CC"/>
                </a:solidFill>
                <a:hlinkClick r:id="rId3"/>
              </a:rPr>
              <a:t>📊 Click for interactive version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CC0000"/>
                </a:solidFill>
              </a:defRPr>
            </a:pPr>
            <a:r>
              <a:t>Statement of Cash Flows</a:t>
            </a:r>
          </a:p>
        </p:txBody>
      </p:sp>
      <p:pic>
        <p:nvPicPr>
          <p:cNvPr id="3" name="Picture 2" descr="chart_cash_flow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0"/>
            <a:ext cx="82296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029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Three cash flow lines: Operating, Investing, Financing. Operating should be consistently positive.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0350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u="sng">
                <a:solidFill>
                  <a:srgbClr val="0066CC"/>
                </a:solidFill>
                <a:hlinkClick r:id="rId3"/>
              </a:rPr>
              <a:t>📊 Click for interactive version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9144000" cy="1828800"/>
          </a:xfrm>
          <a:prstGeom prst="rect">
            <a:avLst/>
          </a:prstGeom>
          <a:solidFill>
            <a:srgbClr val="CC0000"/>
          </a:solidFill>
          <a:ln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PILLAR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017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Operational Efficiency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i="1">
                <a:solidFill>
                  <a:srgbClr val="646464"/>
                </a:solidFill>
              </a:defRPr>
            </a:pPr>
            <a:r>
              <a:t>"How well is the company using its assets?"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CC0000"/>
                </a:solidFill>
              </a:defRPr>
            </a:pPr>
            <a:r>
              <a:t>DuPont Analysis</a:t>
            </a:r>
          </a:p>
        </p:txBody>
      </p:sp>
      <p:pic>
        <p:nvPicPr>
          <p:cNvPr id="3" name="Picture 2" descr="chart_dupont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0"/>
            <a:ext cx="82296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029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Decomposes ROE into Profit Margin x Asset Turnover x Financial Leverage. Shows what drives returns.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0350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u="sng">
                <a:solidFill>
                  <a:srgbClr val="0066CC"/>
                </a:solidFill>
                <a:hlinkClick r:id="rId3"/>
              </a:rPr>
              <a:t>📊 Click for interactive version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CC0000"/>
                </a:solidFill>
              </a:defRPr>
            </a:pPr>
            <a:r>
              <a:t>Inventory Efficiency</a:t>
            </a:r>
          </a:p>
        </p:txBody>
      </p:sp>
      <p:pic>
        <p:nvPicPr>
          <p:cNvPr id="3" name="Picture 2" descr="chart_inventory_effici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0"/>
            <a:ext cx="82296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029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Tracks turnover ratio and days on hand. Faster turns = less capital tied up in inventory.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0350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u="sng">
                <a:solidFill>
                  <a:srgbClr val="0066CC"/>
                </a:solidFill>
                <a:hlinkClick r:id="rId3"/>
              </a:rPr>
              <a:t>📊 Click for interactive version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CC0000"/>
                </a:solidFill>
              </a:defRPr>
            </a:pPr>
            <a:r>
              <a:t>Cash Conversion Cycle</a:t>
            </a:r>
          </a:p>
        </p:txBody>
      </p:sp>
      <p:pic>
        <p:nvPicPr>
          <p:cNvPr id="3" name="Picture 2" descr="chart_cash_conversion_cy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0"/>
            <a:ext cx="82296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029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Days to convert inventory to cash vs retail peers. Lower is better; negative means suppliers finance operations.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0350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u="sng">
                <a:solidFill>
                  <a:srgbClr val="0066CC"/>
                </a:solidFill>
                <a:hlinkClick r:id="rId3"/>
              </a:rPr>
              <a:t>📊 Click for interactive version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CC0000"/>
                </a:solidFill>
              </a:defRPr>
            </a:pPr>
            <a:r>
              <a:t>OCF vs CapEx</a:t>
            </a:r>
          </a:p>
        </p:txBody>
      </p:sp>
      <p:pic>
        <p:nvPicPr>
          <p:cNvPr id="3" name="Picture 2" descr="chart_ocf_vs_cap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0"/>
            <a:ext cx="82296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029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Operating cash vs capital spending. The gap between them is Free Cash Flow available for shareholders.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0350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u="sng">
                <a:solidFill>
                  <a:srgbClr val="0066CC"/>
                </a:solidFill>
                <a:hlinkClick r:id="rId3"/>
              </a:rPr>
              <a:t>📊 Click for interactive version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9144000" cy="1828800"/>
          </a:xfrm>
          <a:prstGeom prst="rect">
            <a:avLst/>
          </a:prstGeom>
          <a:solidFill>
            <a:srgbClr val="CC0000"/>
          </a:solidFill>
          <a:ln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PILLAR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017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Valuation &amp; 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i="1">
                <a:solidFill>
                  <a:srgbClr val="646464"/>
                </a:solidFill>
              </a:defRPr>
            </a:pPr>
            <a:r>
              <a:t>"Is the stock fairly priced, and what are the risks?"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CC0000"/>
                </a:solidFill>
              </a:defRPr>
            </a:pPr>
            <a:r>
              <a:t>Valuation vs Growth</a:t>
            </a:r>
          </a:p>
        </p:txBody>
      </p:sp>
      <p:pic>
        <p:nvPicPr>
          <p:cNvPr id="3" name="Picture 2" descr="chart_valuation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0"/>
            <a:ext cx="82296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029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P/E ratio vs revenue growth for Target and peers. Lower-right quadrant = undervalued opportunities.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0350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u="sng">
                <a:solidFill>
                  <a:srgbClr val="0066CC"/>
                </a:solidFill>
                <a:hlinkClick r:id="rId3"/>
              </a:rPr>
              <a:t>📊 Click for interactive version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CC0000"/>
                </a:solidFill>
              </a:defRPr>
            </a:pPr>
            <a:r>
              <a:t>Historical P/E Band</a:t>
            </a:r>
          </a:p>
        </p:txBody>
      </p:sp>
      <p:pic>
        <p:nvPicPr>
          <p:cNvPr id="3" name="Picture 2" descr="chart_pe_b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0"/>
            <a:ext cx="82296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029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Current price vs historical valuation range. Below 25th percentile = historically undervalued.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0350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u="sng">
                <a:solidFill>
                  <a:srgbClr val="0066CC"/>
                </a:solidFill>
                <a:hlinkClick r:id="rId3"/>
              </a:rPr>
              <a:t>📊 Click for interactive version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CC0000"/>
                </a:solidFill>
              </a:defRPr>
            </a:pPr>
            <a:r>
              <a:t>Cash Flow Sankey</a:t>
            </a:r>
          </a:p>
        </p:txBody>
      </p:sp>
      <p:pic>
        <p:nvPicPr>
          <p:cNvPr id="3" name="Picture 2" descr="chart_cash_flow_sank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0"/>
            <a:ext cx="82296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029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Visualizes cash allocation: CapEx, dividends, buybacks, debt repayment. Shows management priorities.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0350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u="sng">
                <a:solidFill>
                  <a:srgbClr val="0066CC"/>
                </a:solidFill>
                <a:hlinkClick r:id="rId3"/>
              </a:rPr>
              <a:t>📊 Click for interactive version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CC0000"/>
                </a:solidFill>
              </a:defRPr>
            </a:pPr>
            <a:r>
              <a:t>Risk Trends</a:t>
            </a:r>
          </a:p>
        </p:txBody>
      </p:sp>
      <p:pic>
        <p:nvPicPr>
          <p:cNvPr id="3" name="Picture 2" descr="chart_risk_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0"/>
            <a:ext cx="82296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029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Stacked area of risk mentions (shrink, theft, markdown) over time. Rising trends signal increasing concerns.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0350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u="sng">
                <a:solidFill>
                  <a:srgbClr val="0066CC"/>
                </a:solidFill>
                <a:hlinkClick r:id="rId3"/>
              </a:rPr>
              <a:t>📊 Click for interactive version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CC0000"/>
                </a:solidFill>
              </a:defRPr>
            </a:pPr>
            <a:r>
              <a:t>Risk Heatmap</a:t>
            </a:r>
          </a:p>
        </p:txBody>
      </p:sp>
      <p:pic>
        <p:nvPicPr>
          <p:cNvPr id="3" name="Picture 2" descr="chart_risk_heatmap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0"/>
            <a:ext cx="82296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029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Intensity grid showing risk types by period. Dark cells = high concern in that area.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0350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u="sng">
                <a:solidFill>
                  <a:srgbClr val="0066CC"/>
                </a:solidFill>
                <a:hlinkClick r:id="rId3"/>
              </a:rPr>
              <a:t>📊 Click for interactive version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