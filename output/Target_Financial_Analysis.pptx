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/Users/alex/Documents/dev/financial-analyst-project/output/chart_revenue_vs_inventory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/Users/alex/Documents/dev/financial-analyst-project/output/chart_operating_margin_waterfall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/Users/alex/Documents/dev/financial-analyst-project/output/chart_inventory_efficiency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/Users/alex/Documents/dev/financial-analyst-project/output/chart_debt_health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/Users/alex/Documents/dev/financial-analyst-project/output/chart_cash_flow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/Users/alex/Documents/dev/financial-analyst-project/output/chart_margin_bridge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/Users/alex/Documents/dev/financial-analyst-project/output/chart_risk_trends.html" TargetMode="External"/><Relationship Id="rId3" Type="http://schemas.openxmlformats.org/officeDocument/2006/relationships/hyperlink" Target="/Users/alex/Documents/dev/financial-analyst-project/output/chart_risk_heatmap_grid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C0000"/>
                </a:solidFill>
              </a:defRPr>
            </a:pPr>
            <a:r>
              <a:t>Target Corporation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Financial Analysis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808080"/>
                </a:solidFill>
              </a:defRPr>
            </a:pPr>
            <a:r>
              <a:t>FY2024 - Q3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FY2024 Baseline Performance</a:t>
            </a:r>
          </a:p>
          <a:p>
            <a:pPr>
              <a:spcAft>
                <a:spcPts val="300"/>
              </a:spcAft>
              <a:defRPr sz="1400"/>
            </a:pPr>
            <a:r>
              <a:t>• Net Sales: $92.40B</a:t>
            </a:r>
          </a:p>
          <a:p>
            <a:pPr>
              <a:spcAft>
                <a:spcPts val="300"/>
              </a:spcAft>
              <a:defRPr sz="1400"/>
            </a:pPr>
            <a:r>
              <a:t>• Operating Margin: 7.08%</a:t>
            </a:r>
          </a:p>
          <a:p>
            <a:pPr>
              <a:spcAft>
                <a:spcPts val="300"/>
              </a:spcAft>
              <a:defRPr sz="1400"/>
            </a:pPr>
            <a:r>
              <a:t>• Gross Margin: 28.38%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Q3 2025 - Critical Weakness Detected</a:t>
            </a:r>
          </a:p>
          <a:p>
            <a:pPr>
              <a:spcAft>
                <a:spcPts val="300"/>
              </a:spcAft>
              <a:defRPr sz="1400"/>
            </a:pPr>
            <a:r>
              <a:t>• Operating Margin: 5.42% (+1.84% vs baseline) ⚠️</a:t>
            </a:r>
          </a:p>
          <a:p>
            <a:pPr>
              <a:spcAft>
                <a:spcPts val="300"/>
              </a:spcAft>
              <a:defRPr sz="1400"/>
            </a:pPr>
            <a:r>
              <a:t>• Inventory: $15.08B (+41.6%) 🚨</a:t>
            </a:r>
          </a:p>
          <a:p>
            <a:pPr>
              <a:spcAft>
                <a:spcPts val="300"/>
              </a:spcAft>
              <a:defRPr sz="1400"/>
            </a:pPr>
            <a:r>
              <a:t>• Debt increased 7.5% while operating income declined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Key Risk Flags</a:t>
            </a:r>
          </a:p>
          <a:p>
            <a:pPr>
              <a:spcAft>
                <a:spcPts val="300"/>
              </a:spcAft>
              <a:defRPr sz="1400"/>
            </a:pPr>
            <a:r>
              <a:t>• Interest coverage deteriorated from 9.7x to 1.5x</a:t>
            </a:r>
          </a:p>
          <a:p>
            <a:pPr>
              <a:spcAft>
                <a:spcPts val="300"/>
              </a:spcAft>
              <a:defRPr sz="1400"/>
            </a:pPr>
            <a:r>
              <a:t>• Shrink/theft mentioned in all quarters</a:t>
            </a:r>
          </a:p>
          <a:p>
            <a:pPr>
              <a:spcAft>
                <a:spcPts val="300"/>
              </a:spcAft>
              <a:defRPr sz="1400"/>
            </a:pPr>
            <a:r>
              <a:t>• Inventory buildup suggests potential clearance ahead</a:t>
            </a:r>
          </a:p>
          <a:p>
            <a:pPr>
              <a:spcAft>
                <a:spcPts val="120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8C00"/>
                </a:solidFill>
              </a:defRPr>
            </a:pPr>
            <a:r>
              <a:t>Recommendation: Hold</a:t>
            </a:r>
          </a:p>
          <a:p>
            <a:pPr>
              <a:spcAft>
                <a:spcPts val="600"/>
              </a:spcAft>
              <a:defRPr sz="1600"/>
            </a:pPr>
            <a:r>
              <a:t>Balanced risk/opportunity profile with execution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⚠️  Risk Factors</a:t>
            </a:r>
          </a:p>
          <a:p>
            <a:pPr>
              <a:defRPr sz="1400"/>
            </a:pPr>
            <a:r>
              <a:t>• Shrink/Theft (High)</a:t>
            </a:r>
          </a:p>
          <a:p>
            <a:pPr lvl="1">
              <a:spcAft>
                <a:spcPts val="600"/>
              </a:spcAft>
              <a:defRPr sz="1200"/>
            </a:pPr>
            <a:r>
              <a:t>22 mentions across 8 periods, avg 2.8/period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✨ Opportunities</a:t>
            </a:r>
          </a:p>
          <a:p>
            <a:pPr>
              <a:defRPr sz="1400"/>
            </a:pPr>
            <a:r>
              <a:t>• Digital Sales Growth (High potential)</a:t>
            </a:r>
          </a:p>
          <a:p>
            <a:pPr lvl="1">
              <a:spcAft>
                <a:spcPts val="600"/>
              </a:spcAft>
              <a:defRPr sz="1200"/>
            </a:pPr>
            <a:r>
              <a:t>Digital comp sales up 2.4% in latest quarter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FY2024 Annual Performance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0" y="182880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Net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$106.57B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Operating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$5.57B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Operating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5.22%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Gross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28.21%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Inventory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$12.74B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Revenue vs Inventory Growth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Dual-axis chart comparing revenue and inventory growth over time:</a:t>
            </a:r>
          </a:p>
          <a:p>
            <a:pPr>
              <a:spcAft>
                <a:spcPts val="1200"/>
              </a:spcAft>
              <a:defRPr sz="1400"/>
            </a:pPr>
            <a:r>
              <a:t>📊 Click to view: </a:t>
            </a:r>
            <a:r>
              <a:rPr sz="1400" u="sng">
                <a:solidFill>
                  <a:srgbClr val="0000FF"/>
                </a:solidFill>
                <a:hlinkClick r:id="rId2"/>
              </a:rPr>
              <a:t>Revenue vs Inventory Interactive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/>
            </a:pPr>
            <a:r>
              <a:t>Key Insights (Q3 2024 vs Q3 2025):</a:t>
            </a:r>
          </a:p>
          <a:p>
            <a:pPr>
              <a:spcAft>
                <a:spcPts val="400"/>
              </a:spcAft>
              <a:defRPr sz="1400" b="1"/>
            </a:pPr>
            <a:r>
              <a:t>Revenue (Quarterly):</a:t>
            </a:r>
          </a:p>
          <a:p>
            <a:pPr lvl="1">
              <a:defRPr sz="1400"/>
            </a:pPr>
            <a:r>
              <a:t>• Q3 2024: $25.23B</a:t>
            </a:r>
          </a:p>
          <a:p>
            <a:pPr lvl="1">
              <a:spcAft>
                <a:spcPts val="800"/>
              </a:spcAft>
              <a:defRPr sz="1400"/>
            </a:pPr>
            <a:r>
              <a:t>• Q3 2025: $25.27B</a:t>
            </a:r>
          </a:p>
          <a:p>
            <a:pPr>
              <a:spcAft>
                <a:spcPts val="400"/>
              </a:spcAft>
              <a:defRPr sz="1400" b="1"/>
            </a:pPr>
            <a:r>
              <a:t>Inventory:</a:t>
            </a:r>
          </a:p>
          <a:p>
            <a:pPr lvl="1">
              <a:defRPr sz="1400"/>
            </a:pPr>
            <a:r>
              <a:t>• Q3 2024: $15.16B</a:t>
            </a:r>
          </a:p>
          <a:p>
            <a:pPr lvl="1">
              <a:spcAft>
                <a:spcPts val="1200"/>
              </a:spcAft>
              <a:defRPr sz="1400"/>
            </a:pPr>
            <a:r>
              <a:t>• Q3 2025: $14.90B</a:t>
            </a:r>
          </a:p>
          <a:p>
            <a:pPr>
              <a:spcAft>
                <a:spcPts val="600"/>
              </a:spcAft>
              <a:defRPr sz="1400" b="1"/>
            </a:pPr>
            <a:r>
              <a:t>Year-over-Year Growth:</a:t>
            </a:r>
          </a:p>
          <a:p>
            <a:pPr lvl="1">
              <a:defRPr sz="1400"/>
            </a:pPr>
            <a:r>
              <a:t>✅ Revenue: +0.2% YoY</a:t>
            </a:r>
          </a:p>
          <a:p>
            <a:pPr lvl="1">
              <a:defRPr sz="1400"/>
            </a:pPr>
            <a:r>
              <a:t>✅ Inventory: -1.8% YoY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Operating Margin Waterfall - Quarterly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Waterfall chart showing quarterly operating margin changes:</a:t>
            </a:r>
          </a:p>
          <a:p>
            <a:pPr>
              <a:spcAft>
                <a:spcPts val="1200"/>
              </a:spcAft>
              <a:defRPr sz="1400"/>
            </a:pPr>
            <a:r>
              <a:t>📊 Click to view: </a:t>
            </a:r>
            <a:r>
              <a:rPr sz="1400" u="sng">
                <a:solidFill>
                  <a:srgbClr val="0000FF"/>
                </a:solidFill>
                <a:hlinkClick r:id="rId2"/>
              </a:rPr>
              <a:t>Operating Margin Waterfall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/>
            </a:pPr>
            <a:r>
              <a:t>Key Insights:</a:t>
            </a:r>
          </a:p>
          <a:p>
            <a:pPr>
              <a:spcAft>
                <a:spcPts val="400"/>
              </a:spcAft>
              <a:defRPr sz="1400"/>
            </a:pPr>
            <a:r>
              <a:t>• FY2024 Baseline: 5.22%</a:t>
            </a:r>
          </a:p>
          <a:p>
            <a:pPr>
              <a:spcAft>
                <a:spcPts val="400"/>
              </a:spcAft>
              <a:defRPr sz="1400"/>
            </a:pPr>
            <a:r>
              <a:t>• Q3 2025 Current: 3.75%</a:t>
            </a:r>
          </a:p>
          <a:p>
            <a:pPr>
              <a:spcAft>
                <a:spcPts val="1200"/>
              </a:spcAft>
              <a:defRPr sz="1400" b="1">
                <a:solidFill>
                  <a:srgbClr val="FF0000"/>
                </a:solidFill>
              </a:defRPr>
            </a:pPr>
            <a:r>
              <a:t>⚠️ Net Change: -1.47 percentage points</a:t>
            </a:r>
          </a:p>
          <a:p>
            <a:pPr>
              <a:spcAft>
                <a:spcPts val="600"/>
              </a:spcAft>
              <a:defRPr sz="1400" b="1"/>
            </a:pPr>
            <a:r>
              <a:t>Quarterly Performance Range:</a:t>
            </a:r>
          </a:p>
          <a:p>
            <a:pPr lvl="1">
              <a:defRPr sz="1400">
                <a:solidFill>
                  <a:srgbClr val="FF0000"/>
                </a:solidFill>
              </a:defRPr>
            </a:pPr>
            <a:r>
              <a:t>• Worst Quarter: Q2 2022 at 1.25%</a:t>
            </a:r>
          </a:p>
          <a:p>
            <a:pPr lvl="1">
              <a:spcAft>
                <a:spcPts val="1200"/>
              </a:spcAft>
              <a:defRPr sz="1400">
                <a:solidFill>
                  <a:srgbClr val="008000"/>
                </a:solidFill>
              </a:defRPr>
            </a:pPr>
            <a:r>
              <a:t>• Best Quarter: Q2 2024 at 6.53%</a:t>
            </a:r>
          </a:p>
          <a:p>
            <a:pPr>
              <a:defRPr sz="1300">
                <a:solidFill>
                  <a:srgbClr val="464646"/>
                </a:solidFill>
              </a:defRPr>
            </a:pPr>
            <a:r>
              <a:t>📈 The waterfall chart shows quarter-over-quarter margin changes, helping identify inflection points and trends over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Inventory Efficiency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Dual-axis chart tracking Inventory Turnover Ratio and Days Sales of Inventory:</a:t>
            </a:r>
          </a:p>
          <a:p>
            <a:pPr>
              <a:spcAft>
                <a:spcPts val="1200"/>
              </a:spcAft>
              <a:defRPr sz="1400"/>
            </a:pPr>
            <a:r>
              <a:t>📊 Click to view: </a:t>
            </a:r>
            <a:r>
              <a:rPr sz="1400" u="sng">
                <a:solidFill>
                  <a:srgbClr val="0000FF"/>
                </a:solidFill>
                <a:hlinkClick r:id="rId2"/>
              </a:rPr>
              <a:t>Inventory Efficiency Interactive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/>
            </a:pPr>
            <a:r>
              <a:t>Key Insights:</a:t>
            </a:r>
          </a:p>
          <a:p>
            <a:pPr>
              <a:spcAft>
                <a:spcPts val="400"/>
              </a:spcAft>
              <a:defRPr sz="1400" b="1"/>
            </a:pPr>
            <a:r>
              <a:t>Inventory Turnover Ratio (higher is better):</a:t>
            </a:r>
          </a:p>
          <a:p>
            <a:pPr lvl="1">
              <a:defRPr sz="1400"/>
            </a:pPr>
            <a:r>
              <a:t>• FY2024 Baseline: 6.00x</a:t>
            </a:r>
          </a:p>
          <a:p>
            <a:pPr lvl="1">
              <a:defRPr sz="1400"/>
            </a:pPr>
            <a:r>
              <a:t>• Q3 2025: 1.22x</a:t>
            </a:r>
          </a:p>
          <a:p>
            <a:pPr lvl="1">
              <a:spcAft>
                <a:spcPts val="1000"/>
              </a:spcAft>
              <a:defRPr sz="1400">
                <a:solidFill>
                  <a:srgbClr val="FF0000"/>
                </a:solidFill>
              </a:defRPr>
            </a:pPr>
            <a:r>
              <a:t>⚠️ Change: -4.78x</a:t>
            </a:r>
          </a:p>
          <a:p>
            <a:pPr>
              <a:spcAft>
                <a:spcPts val="400"/>
              </a:spcAft>
              <a:defRPr sz="1400" b="1"/>
            </a:pPr>
            <a:r>
              <a:t>Days Sales of Inventory (lower is better):</a:t>
            </a:r>
          </a:p>
          <a:p>
            <a:pPr lvl="1">
              <a:defRPr sz="1400"/>
            </a:pPr>
            <a:r>
              <a:t>• FY2024 Baseline: 60.8 days</a:t>
            </a:r>
          </a:p>
          <a:p>
            <a:pPr lvl="1">
              <a:defRPr sz="1400"/>
            </a:pPr>
            <a:r>
              <a:t>• Q3 2025: 299.8 days</a:t>
            </a:r>
          </a:p>
          <a:p>
            <a:pPr lvl="1">
              <a:spcAft>
                <a:spcPts val="1200"/>
              </a:spcAft>
              <a:defRPr sz="1400">
                <a:solidFill>
                  <a:srgbClr val="FF0000"/>
                </a:solidFill>
              </a:defRPr>
            </a:pPr>
            <a:r>
              <a:t>⚠️ Change: +239.0 days</a:t>
            </a:r>
          </a:p>
          <a:p>
            <a:pPr>
              <a:defRPr sz="1300" b="1">
                <a:solidFill>
                  <a:srgbClr val="FF0000"/>
                </a:solidFill>
              </a:defRPr>
            </a:pPr>
            <a:r>
              <a:t>⚠️ Inventory efficiency has deteriorated - items are taking longer to sell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Debt Health &amp; Interest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Dual-axis chart tracking Interest Coverage Ratio and Total Debt:</a:t>
            </a:r>
          </a:p>
          <a:p>
            <a:pPr>
              <a:spcAft>
                <a:spcPts val="1200"/>
              </a:spcAft>
              <a:defRPr sz="1400"/>
            </a:pPr>
            <a:r>
              <a:t>📊 Click to view: </a:t>
            </a:r>
            <a:r>
              <a:rPr sz="1400" u="sng">
                <a:solidFill>
                  <a:srgbClr val="0000FF"/>
                </a:solidFill>
                <a:hlinkClick r:id="rId2"/>
              </a:rPr>
              <a:t>Debt Health Interactive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8C00"/>
                </a:solidFill>
              </a:defRPr>
            </a:pPr>
            <a:r>
              <a:t>⚠️ Insufficient debt data available for comparison. Please check annual 10-K reports for complete debt metrics.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Cash Flow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Stacked bar chart showing Operating, Investing, and Financing cash flows:</a:t>
            </a:r>
          </a:p>
          <a:p>
            <a:pPr>
              <a:spcAft>
                <a:spcPts val="1200"/>
              </a:spcAft>
              <a:defRPr sz="1400"/>
            </a:pPr>
            <a:r>
              <a:t>📊 Click to view: </a:t>
            </a:r>
            <a:r>
              <a:rPr sz="1400" u="sng">
                <a:solidFill>
                  <a:srgbClr val="0000FF"/>
                </a:solidFill>
                <a:hlinkClick r:id="rId2"/>
              </a:rPr>
              <a:t>Cash Flows Interactive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/>
            </a:pPr>
            <a:r>
              <a:t>Latest Cash Flows (Q3 2025):</a:t>
            </a:r>
          </a:p>
          <a:p>
            <a:pPr>
              <a:defRPr sz="1400">
                <a:solidFill>
                  <a:srgbClr val="008000"/>
                </a:solidFill>
              </a:defRPr>
            </a:pPr>
            <a:r>
              <a:t>✅ Operating Activities: $3.48B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• Investing Activities: $2.79B</a:t>
            </a:r>
          </a:p>
          <a:p>
            <a:pPr>
              <a:spcAft>
                <a:spcPts val="1200"/>
              </a:spcAft>
              <a:defRPr sz="1400">
                <a:solidFill>
                  <a:srgbClr val="646464"/>
                </a:solidFill>
              </a:defRPr>
            </a:pPr>
            <a:r>
              <a:t>• Financing Activities: $1.64B</a:t>
            </a:r>
          </a:p>
          <a:p>
            <a:pPr>
              <a:spcAft>
                <a:spcPts val="1200"/>
              </a:spcAft>
              <a:defRPr sz="1400" b="1">
                <a:solidFill>
                  <a:srgbClr val="008000"/>
                </a:solidFill>
              </a:defRPr>
            </a:pPr>
            <a:r>
              <a:t>Net Cash Flow: $7.91B</a:t>
            </a:r>
          </a:p>
          <a:p>
            <a:pPr>
              <a:spcAft>
                <a:spcPts val="400"/>
              </a:spcAft>
              <a:defRPr sz="1400" b="1"/>
            </a:pPr>
            <a:r>
              <a:t>Operating Cash Flow vs FY2024:</a:t>
            </a:r>
          </a:p>
          <a:p>
            <a:pPr lvl="1">
              <a:defRPr sz="1400"/>
            </a:pPr>
            <a:r>
              <a:t>• FY2024: $7.37B</a:t>
            </a:r>
          </a:p>
          <a:p>
            <a:pPr lvl="1">
              <a:spcAft>
                <a:spcPts val="1200"/>
              </a:spcAft>
              <a:defRPr sz="1400"/>
            </a:pPr>
            <a:r>
              <a:t>• Q3 2025: $3.48B (quarterly)</a:t>
            </a:r>
          </a:p>
          <a:p>
            <a:pPr>
              <a:defRPr sz="1300" b="1">
                <a:solidFill>
                  <a:srgbClr val="008000"/>
                </a:solidFill>
              </a:defRPr>
            </a:pPr>
            <a:r>
              <a:t>✅ Positive operating cash flow indicates healthy core business operations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 2025 Performance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4114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Q1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vs Baseline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$23.85B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-82.72B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Operating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8000"/>
                          </a:solidFill>
                        </a:defRPr>
                      </a:pPr>
                      <a:r>
                        <a:t>+0.95%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Gross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28.17%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-0.04%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Operating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$1.47B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-4.09B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Inventory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$13.05B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+0.31B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64592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400" b="1"/>
            </a:pPr>
            <a:r>
              <a:t>Key Observations:</a:t>
            </a:r>
          </a:p>
          <a:p>
            <a:pPr>
              <a:defRPr sz="1200"/>
            </a:pPr>
            <a:r>
              <a:t>✅ Operating margin improving (+0.95% vs baseline)</a:t>
            </a:r>
          </a:p>
          <a:p>
            <a:pPr>
              <a:defRPr sz="1200"/>
            </a:pPr>
            <a:r>
              <a:t>✅ Operating margin +0.80% vs Q1 2024</a:t>
            </a:r>
          </a:p>
          <a:p>
            <a:pPr>
              <a:defRPr sz="1200"/>
            </a:pPr>
            <a:r>
              <a:t>⚠️ Sales -1.2% YoY</a:t>
            </a:r>
          </a:p>
          <a:p>
            <a:pPr>
              <a:defRPr sz="1200">
                <a:solidFill>
                  <a:srgbClr val="FF0000"/>
                </a:solidFill>
              </a:defRPr>
            </a:pPr>
            <a:r>
              <a:t>🚨 Inventory growing 11.2% vs sales -1.2%</a:t>
            </a:r>
          </a:p>
          <a:p>
            <a:br/>
            <a:pPr>
              <a:spcBef>
                <a:spcPts val="800"/>
              </a:spcBef>
              <a:defRPr sz="1200" b="1"/>
            </a:pPr>
            <a:r>
              <a:t>Risk Flags:</a:t>
            </a:r>
          </a:p>
          <a:p>
            <a:pPr lvl="1">
              <a:defRPr sz="1100"/>
            </a:pPr>
            <a:r>
              <a:t>• Shrink/theft mentioned in MD&amp;A</a:t>
            </a:r>
          </a:p>
          <a:p>
            <a:pPr lvl="1">
              <a:defRPr sz="1100"/>
            </a:pPr>
            <a:r>
              <a:t>• Increased markdown/promotional activity noted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2025 Performance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4114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Q2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vs Baseline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$25.21B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-81.36B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Operating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+0.00%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Gross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28.99%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8000"/>
                          </a:solidFill>
                        </a:defRPr>
                      </a:pPr>
                      <a:r>
                        <a:t>+0.78%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Operating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$1.32B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-4.25B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Inventory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$12.88B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+0.14B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64592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400" b="1"/>
            </a:pPr>
            <a:r>
              <a:t>Key Observations:</a:t>
            </a:r>
          </a:p>
          <a:p>
            <a:pPr>
              <a:defRPr sz="1200"/>
            </a:pPr>
            <a:r>
              <a:t>⚠️ Operating margin declining (+0.00% vs baseline)</a:t>
            </a:r>
          </a:p>
          <a:p>
            <a:pPr>
              <a:defRPr sz="1200"/>
            </a:pPr>
            <a:r>
              <a:t>✅ Gross margin +0.78% vs baseline</a:t>
            </a:r>
          </a:p>
          <a:p>
            <a:pPr>
              <a:defRPr sz="1200"/>
            </a:pPr>
            <a:r>
              <a:t>⚠️ Operating margin -1.31% vs Q2 2024</a:t>
            </a:r>
          </a:p>
          <a:p>
            <a:pPr>
              <a:defRPr sz="1200"/>
            </a:pPr>
            <a:r>
              <a:t>✅ Sales +0.8% YoY</a:t>
            </a:r>
          </a:p>
          <a:p>
            <a:br/>
            <a:pPr>
              <a:spcBef>
                <a:spcPts val="800"/>
              </a:spcBef>
              <a:defRPr sz="1200" b="1"/>
            </a:pPr>
            <a:r>
              <a:t>Risk Flags:</a:t>
            </a:r>
          </a:p>
          <a:p>
            <a:pPr lvl="1">
              <a:defRPr sz="1100"/>
            </a:pPr>
            <a:r>
              <a:t>• Shrink/theft mentioned in MD&amp;A</a:t>
            </a:r>
          </a:p>
          <a:p>
            <a:pPr lvl="1">
              <a:defRPr sz="1100"/>
            </a:pPr>
            <a:r>
              <a:t>• Increased markdown/promotional activity noted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⚠️ Q3 2025: CRITICAL WEAKNESS DETECTED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600" b="1"/>
            </a:pPr>
            <a:r>
              <a:t>Operating Margin: 3.75% (-1.47% vs baseline)</a:t>
            </a:r>
          </a:p>
          <a:p>
            <a:pPr lvl="1">
              <a:defRPr sz="1300">
                <a:solidFill>
                  <a:srgbClr val="FF0000"/>
                </a:solidFill>
              </a:defRPr>
            </a:pPr>
            <a:r>
              <a:t>  → Declined 147 basis points - worst quarter of the year</a:t>
            </a:r>
          </a:p>
          <a:p>
            <a:pPr>
              <a:defRPr sz="1400"/>
            </a:pPr>
          </a:p>
          <a:p>
            <a:pPr>
              <a:spcAft>
                <a:spcPts val="400"/>
              </a:spcAft>
              <a:defRPr sz="1600" b="1"/>
            </a:pPr>
            <a:r>
              <a:t>Inventory: $14.90B</a:t>
            </a:r>
          </a:p>
          <a:p>
            <a:pPr lvl="1">
              <a:defRPr sz="1300">
                <a:solidFill>
                  <a:srgbClr val="800000"/>
                </a:solidFill>
              </a:defRPr>
            </a:pPr>
            <a:r>
              <a:t>  → Up 16.9% from baseline</a:t>
            </a:r>
          </a:p>
          <a:p>
            <a:pPr lvl="1">
              <a:defRPr sz="1300">
                <a:solidFill>
                  <a:srgbClr val="800000"/>
                </a:solidFill>
              </a:defRPr>
            </a:pPr>
            <a:r>
              <a:t>  → Excess inventory building = potential clearance sales ahead</a:t>
            </a:r>
          </a:p>
          <a:p>
            <a:pPr>
              <a:defRPr sz="1400"/>
            </a:pPr>
          </a:p>
          <a:p>
            <a:pPr>
              <a:spcAft>
                <a:spcPts val="400"/>
              </a:spcAft>
              <a:defRPr sz="1600" b="1"/>
            </a:pPr>
            <a:r>
              <a:t>Operating Income: $0.95B</a:t>
            </a:r>
          </a:p>
          <a:p>
            <a:pPr lvl="1">
              <a:defRPr sz="1300">
                <a:solidFill>
                  <a:srgbClr val="800000"/>
                </a:solidFill>
              </a:defRPr>
            </a:pPr>
            <a:r>
              <a:t>  → Lowest quarterly operating income despite similar sales</a:t>
            </a:r>
          </a:p>
          <a:p>
            <a:pPr>
              <a:defRPr sz="1400"/>
            </a:pPr>
          </a:p>
          <a:p>
            <a:pPr>
              <a:spcAft>
                <a:spcPts val="400"/>
              </a:spcAft>
              <a:defRPr sz="1600" b="1"/>
            </a:pPr>
            <a:r>
              <a:t>Combined Effect:</a:t>
            </a:r>
          </a:p>
          <a:p>
            <a:pPr lvl="1">
              <a:defRPr sz="1300">
                <a:solidFill>
                  <a:srgbClr val="800000"/>
                </a:solidFill>
              </a:defRPr>
            </a:pPr>
            <a:r>
              <a:t>  → Interest coverage dropped to 1.5x (from 9.7x at baseline)</a:t>
            </a:r>
          </a:p>
          <a:p>
            <a:pPr lvl="1">
              <a:defRPr sz="1300">
                <a:solidFill>
                  <a:srgbClr val="FF0000"/>
                </a:solidFill>
              </a:defRPr>
            </a:pPr>
            <a:r>
              <a:t>  → Approaching distressed territory (&lt;1.5x is red flag)</a:t>
            </a:r>
          </a:p>
          <a:p>
            <a:pPr lvl="1">
              <a:defRPr sz="1300">
                <a:solidFill>
                  <a:srgbClr val="FF0000"/>
                </a:solidFill>
              </a:defRPr>
            </a:pPr>
            <a:r>
              <a:t>  → Rising debt + falling profitability = liquidity risk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Operating Margin Bridge (FY2022 → Q3 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Interactive waterfall chart showing operating margin evolution:</a:t>
            </a:r>
          </a:p>
          <a:p>
            <a:pPr>
              <a:spcAft>
                <a:spcPts val="1200"/>
              </a:spcAft>
              <a:defRPr sz="1400"/>
            </a:pPr>
            <a:r>
              <a:t>📂 Click to view: </a:t>
            </a:r>
            <a:r>
              <a:rPr sz="1400" u="sng">
                <a:solidFill>
                  <a:srgbClr val="0000FF"/>
                </a:solidFill>
                <a:hlinkClick r:id="rId2"/>
              </a:rPr>
              <a:t>Margin Bridge Waterfall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• FY2022 Baseline: 3.58%</a:t>
            </a:r>
          </a:p>
          <a:p>
            <a:pPr>
              <a:spcAft>
                <a:spcPts val="600"/>
              </a:spcAft>
              <a:defRPr sz="1600"/>
            </a:pPr>
            <a:r>
              <a:t>• Q3 2025 Current: 3.75%</a:t>
            </a:r>
          </a:p>
          <a:p>
            <a:pPr>
              <a:spcAft>
                <a:spcPts val="1200"/>
              </a:spcAft>
              <a:defRPr sz="1600">
                <a:solidFill>
                  <a:srgbClr val="008000"/>
                </a:solidFill>
              </a:defRPr>
            </a:pPr>
            <a:r>
              <a:t>• Net Change: +0.17 percentage points</a:t>
            </a:r>
          </a:p>
          <a:p>
            <a:pPr>
              <a:spcAft>
                <a:spcPts val="600"/>
              </a:spcAft>
              <a:defRPr sz="1400" b="1"/>
            </a:pPr>
            <a:r>
              <a:t>Key Drivers:</a:t>
            </a:r>
          </a:p>
          <a:p>
            <a:pPr lvl="1">
              <a:defRPr sz="1400"/>
            </a:pPr>
            <a:r>
              <a:t>• Shrink impact: increasing trend</a:t>
            </a:r>
          </a:p>
          <a:p>
            <a:pPr lvl="1">
              <a:defRPr sz="1400"/>
            </a:pPr>
            <a:r>
              <a:t>• Markdown activity: stable/decreasing trend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Risk Heatmap: Shrink &amp; Markdown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Interactive visualizations showing risk mention trends:</a:t>
            </a:r>
          </a:p>
          <a:p>
            <a:pPr>
              <a:spcAft>
                <a:spcPts val="600"/>
              </a:spcAft>
              <a:defRPr sz="1400" b="1"/>
            </a:pPr>
            <a:r>
              <a:t>📂 Click to view charts:</a:t>
            </a:r>
          </a:p>
          <a:p>
            <a:pPr lvl="1"/>
            <a:r>
              <a:t>   • </a:t>
            </a:r>
            <a:r>
              <a:rPr sz="1400" u="sng">
                <a:solidFill>
                  <a:srgbClr val="0000FF"/>
                </a:solidFill>
                <a:hlinkClick r:id="rId2"/>
              </a:rPr>
              <a:t>Risk Mention Trends (stacked area chart)</a:t>
            </a:r>
          </a:p>
          <a:p>
            <a:pPr lvl="1">
              <a:spcAft>
                <a:spcPts val="1200"/>
              </a:spcAft>
            </a:pPr>
            <a:r>
              <a:t>   • </a:t>
            </a:r>
            <a:r>
              <a:rPr sz="1400" u="sng">
                <a:solidFill>
                  <a:srgbClr val="0000FF"/>
                </a:solidFill>
                <a:hlinkClick r:id="rId3"/>
              </a:rPr>
              <a:t>Risk Heatmap Grid (intensity matrix)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2743200"/>
          <a:ext cx="6400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Risk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Total Mentions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Avg per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Trend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Shrink/Theft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rPr b="1">
                          <a:solidFill>
                            <a:srgbClr val="FF0000"/>
                          </a:solidFill>
                        </a:rPr>
                        <a:t>increasing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Markdown/Promo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stable/decreasing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Debt &amp; Leverage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FY2024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Q1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Q2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Q3 2025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Total Debt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$14.30B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$14.33B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$15.32B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$15.37B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Debt-to-Equity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0000"/>
                          </a:solidFill>
                        </a:defRPr>
                      </a:pPr>
                      <a:r>
                        <a:t>0.96x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0000"/>
                          </a:solidFill>
                        </a:defRPr>
                      </a:pPr>
                      <a:r>
                        <a:t>0.99x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0000"/>
                          </a:solidFill>
                        </a:defRPr>
                      </a:pPr>
                      <a:r>
                        <a:t>0.99x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Interest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9.7x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1.5x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Change from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+7.5%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CC0000"/>
                </a:solidFill>
              </a:defRPr>
            </a:pPr>
            <a:r>
              <a:t>Critical Findings:</a:t>
            </a:r>
          </a:p>
          <a:p>
            <a:pPr>
              <a:defRPr sz="1300"/>
            </a:pPr>
            <a:r>
              <a:t>• Debt increased 7.5% while operating income declined significantly</a:t>
            </a:r>
          </a:p>
          <a:p>
            <a:pPr>
              <a:defRPr sz="1300"/>
            </a:pPr>
            <a:r>
              <a:t>• Interest coverage compressed from 9.7x to 1.5x in one year (approaching distressed level)</a:t>
            </a:r>
          </a:p>
          <a:p>
            <a:pPr>
              <a:defRPr sz="1300"/>
            </a:pPr>
            <a:r>
              <a:t>• Debt likely used to fund inventory buildup and cover working capital shortfalls</a:t>
            </a:r>
          </a:p>
          <a:p>
            <a:pPr>
              <a:defRPr sz="1300"/>
            </a:pPr>
            <a:r>
              <a:t>• $2.00B debt matures in FY2026 - needs refinancing or paydown with limited cash flow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Risks &amp; Monitoring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600" b="1">
                <a:solidFill>
                  <a:srgbClr val="CC0000"/>
                </a:solidFill>
              </a:defRPr>
            </a:pPr>
            <a:r>
              <a:t>Immediate Risks (Q4 2025)</a:t>
            </a:r>
          </a:p>
          <a:p>
            <a:pPr>
              <a:spcAft>
                <a:spcPts val="300"/>
              </a:spcAft>
              <a:defRPr sz="1300"/>
            </a:pPr>
            <a:r>
              <a:t>• Q4 operating margin recovery critical to avoid further deterioration</a:t>
            </a:r>
          </a:p>
          <a:p>
            <a:pPr>
              <a:spcAft>
                <a:spcPts val="300"/>
              </a:spcAft>
              <a:defRPr sz="1300"/>
            </a:pPr>
            <a:r>
              <a:t>• High inventory + weak margins → Expected Q4 clearance sales</a:t>
            </a:r>
          </a:p>
          <a:p>
            <a:pPr>
              <a:spcAft>
                <a:spcPts val="300"/>
              </a:spcAft>
              <a:defRPr sz="1300"/>
            </a:pPr>
            <a:r>
              <a:t>• If interest coverage falls below 1.5x, triggers debt covenant concerns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600"/>
              </a:spcAft>
              <a:defRPr sz="1600" b="1">
                <a:solidFill>
                  <a:srgbClr val="CC0000"/>
                </a:solidFill>
              </a:defRPr>
            </a:pPr>
            <a:r>
              <a:t>Watch Points for Next Quarter</a:t>
            </a:r>
          </a:p>
          <a:p>
            <a:pPr>
              <a:spcAft>
                <a:spcPts val="300"/>
              </a:spcAft>
              <a:defRPr sz="1300"/>
            </a:pPr>
            <a:r>
              <a:t>• Operating margin trend (needs to recover to 5%+ range)</a:t>
            </a:r>
          </a:p>
          <a:p>
            <a:pPr>
              <a:spcAft>
                <a:spcPts val="300"/>
              </a:spcAft>
              <a:defRPr sz="1300"/>
            </a:pPr>
            <a:r>
              <a:t>• Inventory levels (should decline post-holiday)</a:t>
            </a:r>
          </a:p>
          <a:p>
            <a:pPr>
              <a:spcAft>
                <a:spcPts val="300"/>
              </a:spcAft>
              <a:defRPr sz="1300"/>
            </a:pPr>
            <a:r>
              <a:t>• Comparable sales breakdown (store vs. digital performance)</a:t>
            </a:r>
          </a:p>
          <a:p>
            <a:pPr>
              <a:spcAft>
                <a:spcPts val="300"/>
              </a:spcAft>
              <a:defRPr sz="1300"/>
            </a:pPr>
            <a:r>
              <a:t>• Cash flow from operations (ability to service $2B FY2026 debt maturity)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600"/>
              </a:spcAft>
              <a:defRPr sz="1600" b="1">
                <a:solidFill>
                  <a:srgbClr val="CC0000"/>
                </a:solidFill>
              </a:defRPr>
            </a:pPr>
            <a:r>
              <a:t>Strategic Questions</a:t>
            </a:r>
          </a:p>
          <a:p>
            <a:pPr>
              <a:spcAft>
                <a:spcPts val="300"/>
              </a:spcAft>
              <a:defRPr sz="1300"/>
            </a:pPr>
            <a:r>
              <a:t>• Can Target reduce inventory without severe margin impact?</a:t>
            </a:r>
          </a:p>
          <a:p>
            <a:pPr>
              <a:spcAft>
                <a:spcPts val="300"/>
              </a:spcAft>
              <a:defRPr sz="1300"/>
            </a:pPr>
            <a:r>
              <a:t>• Is the operating margin decline temporary or structural?</a:t>
            </a:r>
          </a:p>
          <a:p>
            <a:pPr>
              <a:spcAft>
                <a:spcPts val="300"/>
              </a:spcAft>
              <a:defRPr sz="1300"/>
            </a:pPr>
            <a:r>
              <a:t>• Will shrink/theft issues persist into FY2026?</a:t>
            </a:r>
          </a:p>
          <a:p>
            <a:pPr>
              <a:spcAft>
                <a:spcPts val="300"/>
              </a:spcAft>
              <a:defRPr sz="1300"/>
            </a:pPr>
            <a:r>
              <a:t>• Is current debt level sustainable with lower profitability?</a:t>
            </a:r>
          </a:p>
          <a:p>
            <a:pPr>
              <a:spcAft>
                <a:spcPts val="1000"/>
              </a:spcAft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