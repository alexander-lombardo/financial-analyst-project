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/Users/alex/Documents/dev/financial-analyst-project/output/chart_revenue_vs_inventory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/Users/alex/Documents/dev/financial-analyst-project/output/chart_margin_analysis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/Users/alex/Documents/dev/financial-analyst-project/output/chart_debt_health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/Users/alex/Documents/dev/financial-analyst-project/output/chart_inventory_efficiency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/Users/alex/Documents/dev/financial-analyst-project/output/chart_valuation_scatter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/Users/alex/Documents/dev/financial-analyst-project/output/chart_risk_heatmap_grid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/Users/alex/Documents/dev/financial-analyst-project/output/chart_revenue_netincome_annual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/Users/alex/Documents/dev/financial-analyst-project/output/chart_revenue_growth_yoy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/Users/alex/Documents/dev/financial-analyst-project/output/chart_revenue_netincome_longterm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/Users/alex/Documents/dev/financial-analyst-project/output/chart_margin_bridge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/Users/alex/Documents/dev/financial-analyst-project/output/chart_expense_breakdown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/Users/alex/Documents/dev/financial-analyst-project/output/chart_ebitda_bridge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/Users/alex/Documents/dev/financial-analyst-project/output/chart_operating_margin_waterfall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/Users/alex/Documents/dev/financial-analyst-project/output/chart_earnings_quality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/Users/alex/Documents/dev/financial-analyst-project/output/chart_current_ratio_gauge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/Users/alex/Documents/dev/financial-analyst-project/output/chart_capital_structure_donut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/Users/alex/Documents/dev/financial-analyst-project/output/chart_debt_to_ebitda_trend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/Users/alex/Documents/dev/financial-analyst-project/output/chart_cash_flows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/Users/alex/Documents/dev/financial-analyst-project/output/chart_dupont_analysis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/Users/alex/Documents/dev/financial-analyst-project/output/chart_cash_conversion_cycle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/Users/alex/Documents/dev/financial-analyst-project/output/chart_ocf_vs_cap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/Users/alex/Documents/dev/financial-analyst-project/output/chart_pe_band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/Users/alex/Documents/dev/financial-analyst-project/output/chart_cash_flow_sankey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/Users/alex/Documents/dev/financial-analyst-project/output/chart_risk_trend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C0000"/>
                </a:solidFill>
              </a:defRPr>
            </a:pPr>
            <a:r>
              <a:t>Target Corporation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Financial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808080"/>
                </a:solidFill>
              </a:defRPr>
            </a:pPr>
            <a:r>
              <a:t>5 Pillars of Financial Analysis | 24 Interactive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69696"/>
                </a:solidFill>
              </a:defRPr>
            </a:pPr>
            <a:r>
              <a:t>Data: FY2015 - Q3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FY2024 Baseline Performance</a:t>
            </a:r>
          </a:p>
          <a:p>
            <a:pPr>
              <a:spcAft>
                <a:spcPts val="300"/>
              </a:spcAft>
              <a:defRPr sz="1400"/>
            </a:pPr>
            <a:r>
              <a:t>   Net Sales: $26.12B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3.91%</a:t>
            </a:r>
          </a:p>
          <a:p>
            <a:pPr>
              <a:spcAft>
                <a:spcPts val="300"/>
              </a:spcAft>
              <a:defRPr sz="1400"/>
            </a:pPr>
            <a:r>
              <a:t>   Gross Margin: 24.66%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Latest Quarter Highlights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3.75%</a:t>
            </a:r>
          </a:p>
          <a:p>
            <a:pPr>
              <a:spcAft>
                <a:spcPts val="300"/>
              </a:spcAft>
              <a:defRPr sz="1400"/>
            </a:pPr>
            <a:r>
              <a:t>   Inventory: $14.90B</a:t>
            </a:r>
          </a:p>
          <a:p>
            <a:pPr>
              <a:spcAft>
                <a:spcPts val="300"/>
              </a:spcAft>
              <a:defRPr sz="1400"/>
            </a:pPr>
            <a:r>
              <a:t>   See pillar charts for detailed trends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5 Pillars Covered</a:t>
            </a:r>
          </a:p>
          <a:p>
            <a:pPr>
              <a:spcAft>
                <a:spcPts val="300"/>
              </a:spcAft>
              <a:defRPr sz="1400"/>
            </a:pPr>
            <a:r>
              <a:t>   1. Growth &amp; Revenue - 4 charts</a:t>
            </a:r>
          </a:p>
          <a:p>
            <a:pPr>
              <a:spcAft>
                <a:spcPts val="300"/>
              </a:spcAft>
              <a:defRPr sz="1400"/>
            </a:pPr>
            <a:r>
              <a:t>   2. Profitability &amp; Margins - 6 charts</a:t>
            </a:r>
          </a:p>
          <a:p>
            <a:pPr>
              <a:spcAft>
                <a:spcPts val="300"/>
              </a:spcAft>
              <a:defRPr sz="1400"/>
            </a:pPr>
            <a:r>
              <a:t>   3. Liquidity &amp; Solvency - 5 charts</a:t>
            </a:r>
          </a:p>
          <a:p>
            <a:pPr>
              <a:spcAft>
                <a:spcPts val="300"/>
              </a:spcAft>
              <a:defRPr sz="1400"/>
            </a:pPr>
            <a:r>
              <a:t>   4. Operational Efficiency - 4 charts</a:t>
            </a:r>
          </a:p>
          <a:p>
            <a:pPr>
              <a:spcAft>
                <a:spcPts val="300"/>
              </a:spcAft>
              <a:defRPr sz="1400"/>
            </a:pPr>
            <a:r>
              <a:t>   5. Valuation &amp; Risk - 5 charts</a:t>
            </a:r>
          </a:p>
          <a:p>
            <a:pPr>
              <a:spcAft>
                <a:spcPts val="120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8C00"/>
                </a:solidFill>
              </a:defRPr>
            </a:pPr>
            <a:r>
              <a:t>Recommendation: Hold</a:t>
            </a:r>
          </a:p>
          <a:p>
            <a:pPr>
              <a:spcAft>
                <a:spcPts val="600"/>
              </a:spcAft>
              <a:defRPr sz="1600"/>
            </a:pPr>
            <a:r>
              <a:t>Margin pressure and elevated risks warrant caution; watch for stabilization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Risk Factors</a:t>
            </a:r>
          </a:p>
          <a:p>
            <a:pPr>
              <a:defRPr sz="1400" b="1"/>
            </a:pPr>
            <a:r>
              <a:t>Shrink/Theft (High)</a:t>
            </a:r>
          </a:p>
          <a:p>
            <a:pPr lvl="1">
              <a:spcAft>
                <a:spcPts val="600"/>
              </a:spcAft>
              <a:defRPr sz="1200"/>
            </a:pPr>
            <a:r>
              <a:t>22 mentions across 8 periods, avg 2.8/period</a:t>
            </a:r>
          </a:p>
          <a:p>
            <a:pPr>
              <a:defRPr sz="1400" b="1"/>
            </a:pPr>
            <a:r>
              <a:t>Interest Coverage Decline (Medium)</a:t>
            </a:r>
          </a:p>
          <a:p>
            <a:pPr lvl="1">
              <a:spcAft>
                <a:spcPts val="600"/>
              </a:spcAft>
              <a:defRPr sz="1200"/>
            </a:pPr>
            <a:r>
              <a:t>Coverage dropped 27% QoQ (11.3x → 8.2x)</a:t>
            </a:r>
          </a:p>
          <a:p>
            <a:pPr>
              <a:defRPr sz="1400" b="1"/>
            </a:pPr>
            <a:r>
              <a:t>Margin Compression (High)</a:t>
            </a:r>
          </a:p>
          <a:p>
            <a:pPr lvl="1">
              <a:spcAft>
                <a:spcPts val="600"/>
              </a:spcAft>
              <a:defRPr sz="1200"/>
            </a:pPr>
            <a:r>
              <a:t>Operating margin 3.8% vs 7.1% baseline (-3.3pp)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Opportunities</a:t>
            </a:r>
          </a:p>
          <a:p>
            <a:pPr>
              <a:defRPr sz="1400" b="1"/>
            </a:pPr>
            <a:r>
              <a:t>Digital Sales Growth (Medium potential)</a:t>
            </a:r>
          </a:p>
          <a:p>
            <a:pPr lvl="1">
              <a:spcAft>
                <a:spcPts val="600"/>
              </a:spcAft>
              <a:defRPr sz="1200"/>
            </a:pPr>
            <a:r>
              <a:t>Digital comp sales 2.4% (slowing from 4.3%)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Earning 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Revenue Growth vs Margin Compression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"Can Target grow revenue while protecting margins?"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vs Inventory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</a:rPr>
              <a:t>ⓘ</a:t>
            </a:r>
          </a:p>
        </p:txBody>
      </p:sp>
      <p:pic>
        <p:nvPicPr>
          <p:cNvPr id="4" name="Picture 3" descr="chart_revenue_vs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Compares revenue growth to inventory buildup. Inventory growing faster than sales signals potential markdown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</a:rPr>
              <a:t>ⓘ</a:t>
            </a:r>
          </a:p>
        </p:txBody>
      </p:sp>
      <p:pic>
        <p:nvPicPr>
          <p:cNvPr id="4" name="Picture 3" descr="chart_margi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Three margin lines tracking profitability over time. Compression between lines reveals where profits leak.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The Earning Power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Revenue +2% but Operating Margin -1.47%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Inventory up 17% while sales growth slowed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Clearance risk from excess inventory buildup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SG&amp;A expenses rising faster than revenue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Q4 margin recovery is critical; watch for promotional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Liquidity &amp; Capital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Debt Health vs 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"Can Target service debt while managing working capital?"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 Health (Interest Coverage)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</a:rPr>
              <a:t>ⓘ</a:t>
            </a:r>
          </a:p>
        </p:txBody>
      </p:sp>
      <p:pic>
        <p:nvPicPr>
          <p:cNvPr id="4" name="Picture 3" descr="chart_debt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Interest coverage ratio tracking. Above 3x is comfortable; below 2x requires monitoring.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Inventory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</a:rPr>
              <a:t>ⓘ</a:t>
            </a:r>
          </a:p>
        </p:txBody>
      </p:sp>
      <p:pic>
        <p:nvPicPr>
          <p:cNvPr id="4" name="Picture 3" descr="chart_inventory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Tracks turnover ratio and days on hand. Faster turns = less capital tied up in inventory.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The Liquidity Squeeze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Interest coverage collapsed 9.7x → 1.5x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Debt increased 7.5% to $15.37B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Below 1.5x coverage triggers covenant concerns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$2B debt matures FY2026 amid rate uncertainty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Refinancing risk; watch debt maturities and free cash flow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Valuation &amp;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Is the Discount Justified?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"Is TGT cheap for a reason?"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Valuation vs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</a:rPr>
              <a:t>ⓘ</a:t>
            </a:r>
          </a:p>
        </p:txBody>
      </p:sp>
      <p:pic>
        <p:nvPicPr>
          <p:cNvPr id="4" name="Picture 3" descr="chart_valu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P/E ratio vs revenue growth for Target and peers. Lower-right quadrant = undervalued opportunities.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</a:rPr>
              <a:t>ⓘ</a:t>
            </a:r>
          </a:p>
        </p:txBody>
      </p:sp>
      <p:pic>
        <p:nvPicPr>
          <p:cNvPr id="4" name="Picture 3" descr="chart_risk_heatmap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Intensity grid showing risk types by period. Dark cells = high concern in that area.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Strategic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8C00"/>
                </a:solidFill>
              </a:defRPr>
            </a:pPr>
            <a:r>
              <a:t>Recommendation: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33333"/>
                </a:solidFill>
              </a:defRPr>
            </a:pPr>
            <a:r>
              <a:t>Key Strategic Questions:</a:t>
            </a:r>
          </a:p>
          <a:p>
            <a:pPr>
              <a:defRPr sz="1400" b="1">
                <a:solidFill>
                  <a:srgbClr val="CC0000"/>
                </a:solidFill>
              </a:defRPr>
            </a:pPr>
            <a:r>
              <a:t>Clearance Sale Risk</a:t>
            </a:r>
          </a:p>
          <a:p>
            <a:pPr>
              <a:spcAft>
                <a:spcPts val="1200"/>
              </a:spcAft>
              <a:defRPr sz="1300">
                <a:solidFill>
                  <a:srgbClr val="3C3C3C"/>
                </a:solidFill>
              </a:defRPr>
            </a:pPr>
            <a:r>
              <a:t>Can Target execute a controlled inventory drawdown, or will excess inventory force deep discounting that crushes margins further?</a:t>
            </a:r>
          </a:p>
          <a:p>
            <a:pPr>
              <a:defRPr sz="1400" b="1">
                <a:solidFill>
                  <a:srgbClr val="CC0000"/>
                </a:solidFill>
              </a:defRPr>
            </a:pPr>
            <a:r>
              <a:t>Refinancing Risk</a:t>
            </a:r>
          </a:p>
          <a:p>
            <a:pPr>
              <a:spcAft>
                <a:spcPts val="1200"/>
              </a:spcAft>
              <a:defRPr sz="1300">
                <a:solidFill>
                  <a:srgbClr val="3C3C3C"/>
                </a:solidFill>
              </a:defRPr>
            </a:pPr>
            <a:r>
              <a:t>With $2B debt maturing FY2026 and interest coverage at 1.5x, how will Target refinance in a higher rate environment?</a:t>
            </a:r>
          </a:p>
          <a:p>
            <a:pPr>
              <a:defRPr sz="1400" b="1">
                <a:solidFill>
                  <a:srgbClr val="CC0000"/>
                </a:solidFill>
              </a:defRPr>
            </a:pPr>
            <a:r>
              <a:t>Margin Recovery</a:t>
            </a:r>
          </a:p>
          <a:p>
            <a:pPr>
              <a:spcAft>
                <a:spcPts val="1200"/>
              </a:spcAft>
              <a:defRPr sz="1300">
                <a:solidFill>
                  <a:srgbClr val="3C3C3C"/>
                </a:solidFill>
              </a:defRPr>
            </a:pPr>
            <a:r>
              <a:t>Can Target restore operating margins to 5%+ without sacrificing market share?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303520"/>
            <a:ext cx="8229600" cy="118872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4068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C0000"/>
                </a:solidFill>
              </a:defRPr>
            </a:pPr>
            <a:r>
              <a:t>Bottom Line</a:t>
            </a:r>
          </a:p>
          <a:p>
            <a:pPr>
              <a:defRPr sz="1200">
                <a:solidFill>
                  <a:srgbClr val="333333"/>
                </a:solidFill>
              </a:defRPr>
            </a:pPr>
            <a:r>
              <a:t>Margin pressure and elevated risks warrant caution; watch for stabilization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50505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46464"/>
                </a:solidFill>
              </a:defRPr>
            </a:pPr>
            <a:r>
              <a:t>18 additional charts for detailed analysis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Revenue &amp; Net Income (10-Year)</a:t>
            </a:r>
          </a:p>
        </p:txBody>
      </p:sp>
      <p:pic>
        <p:nvPicPr>
          <p:cNvPr id="3" name="Picture 2" descr="chart_revenue_netincome_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Revenue Growth YoY</a:t>
            </a:r>
          </a:p>
        </p:txBody>
      </p:sp>
      <p:pic>
        <p:nvPicPr>
          <p:cNvPr id="3" name="Picture 2" descr="chart_revenue_growth_y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Revenue &amp; Net Income (Quarterly)</a:t>
            </a:r>
          </a:p>
        </p:txBody>
      </p:sp>
      <p:pic>
        <p:nvPicPr>
          <p:cNvPr id="3" name="Picture 2" descr="chart_revenue_netincome_longt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Margin Bridge Waterfall</a:t>
            </a:r>
          </a:p>
        </p:txBody>
      </p:sp>
      <p:pic>
        <p:nvPicPr>
          <p:cNvPr id="3" name="Picture 2" descr="chart_margin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Operating Expense Breakdown</a:t>
            </a:r>
          </a:p>
        </p:txBody>
      </p:sp>
      <p:pic>
        <p:nvPicPr>
          <p:cNvPr id="3" name="Picture 2" descr="chart_expense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EBITDA Bridge</a:t>
            </a:r>
          </a:p>
        </p:txBody>
      </p:sp>
      <p:pic>
        <p:nvPicPr>
          <p:cNvPr id="3" name="Picture 2" descr="chart_ebitda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Operating Margin Waterfall</a:t>
            </a:r>
          </a:p>
        </p:txBody>
      </p:sp>
      <p:pic>
        <p:nvPicPr>
          <p:cNvPr id="3" name="Picture 2" descr="chart_operating_margin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Earnings Quality</a:t>
            </a:r>
          </a:p>
        </p:txBody>
      </p:sp>
      <p:pic>
        <p:nvPicPr>
          <p:cNvPr id="3" name="Picture 2" descr="chart_earnings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Current Ratio Gauge</a:t>
            </a:r>
          </a:p>
        </p:txBody>
      </p:sp>
      <p:pic>
        <p:nvPicPr>
          <p:cNvPr id="3" name="Picture 2" descr="chart_current_ratio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Capital Structure</a:t>
            </a:r>
          </a:p>
        </p:txBody>
      </p:sp>
      <p:pic>
        <p:nvPicPr>
          <p:cNvPr id="3" name="Picture 2" descr="chart_capital_structur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Debt-to-EBITDA Trend</a:t>
            </a:r>
          </a:p>
        </p:txBody>
      </p:sp>
      <p:pic>
        <p:nvPicPr>
          <p:cNvPr id="3" name="Picture 2" descr="chart_debt_to_ebitd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Statement of Cash Flows</a:t>
            </a:r>
          </a:p>
        </p:txBody>
      </p:sp>
      <p:pic>
        <p:nvPicPr>
          <p:cNvPr id="3" name="Picture 2" descr="chart_cash_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DuPont Analysis</a:t>
            </a:r>
          </a:p>
        </p:txBody>
      </p:sp>
      <p:pic>
        <p:nvPicPr>
          <p:cNvPr id="3" name="Picture 2" descr="chart_dupon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Cash Conversion Cycle</a:t>
            </a:r>
          </a:p>
        </p:txBody>
      </p:sp>
      <p:pic>
        <p:nvPicPr>
          <p:cNvPr id="3" name="Picture 2" descr="chart_cash_conversion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OCF vs CapEx</a:t>
            </a:r>
          </a:p>
        </p:txBody>
      </p:sp>
      <p:pic>
        <p:nvPicPr>
          <p:cNvPr id="3" name="Picture 2" descr="chart_ocf_vs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Historical P/E Band</a:t>
            </a:r>
          </a:p>
        </p:txBody>
      </p:sp>
      <p:pic>
        <p:nvPicPr>
          <p:cNvPr id="3" name="Picture 2" descr="chart_pe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Cash Flow Sankey</a:t>
            </a:r>
          </a:p>
        </p:txBody>
      </p:sp>
      <p:pic>
        <p:nvPicPr>
          <p:cNvPr id="3" name="Picture 2" descr="chart_cash_flow_sa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5050"/>
                </a:solidFill>
              </a:defRPr>
            </a:pPr>
            <a:r>
              <a:t>Risk Trends</a:t>
            </a:r>
          </a:p>
        </p:txBody>
      </p:sp>
      <p:pic>
        <p:nvPicPr>
          <p:cNvPr id="3" name="Picture 2" descr="chart_risk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Click for interactive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